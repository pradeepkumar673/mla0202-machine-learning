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2"/>
    <p:sldId id="258" r:id="rId3"/>
    <p:sldId id="260" r:id="rId4"/>
    <p:sldId id="275" r:id="rId5"/>
    <p:sldId id="259" r:id="rId6"/>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5C9690-FF60-45FD-8AB0-1C9F9B3B1BFB}" v="34" dt="2026-02-12T09:13:42.266"/>
    <p1510:client id="{E67AF303-C077-4B95-9BE4-259B3C31439E}" v="9" dt="2026-02-13T03:32:58.425"/>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9" d="100"/>
          <a:sy n="59" d="100"/>
        </p:scale>
        <p:origin x="940"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B03017C1-87A4-494F-A7AC-0291AFA41638}" type="datetimeFigureOut">
              <a:rPr lang="en-IN" smtClean="0"/>
              <a:t>30-07-2026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C7DC76DB-B9AE-438B-932E-04B0A7EA8F78}" type="slidenum">
              <a:rPr lang="en-IN" smtClean="0"/>
              <a:t>‹#›</a:t>
            </a:fld>
            <a:endParaRPr lang="en-IN"/>
          </a:p>
        </p:txBody>
      </p:sp>
    </p:spTree>
    <p:extLst>
      <p:ext uri="{BB962C8B-B14F-4D97-AF65-F5344CB8AC3E}">
        <p14:creationId xmlns:p14="http://schemas.microsoft.com/office/powerpoint/2010/main" val="13918373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0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4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019622" y="95849"/>
            <a:ext cx="7432675" cy="1244600"/>
          </a:xfrm>
          <a:prstGeom prst="rect">
            <a:avLst/>
          </a:prstGeom>
        </p:spPr>
        <p:txBody>
          <a:bodyPr wrap="square" lIns="0" tIns="0" rIns="0" bIns="0">
            <a:spAutoFit/>
          </a:bodyPr>
          <a:lstStyle>
            <a:lvl1pPr>
              <a:defRPr sz="40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789313" y="1439453"/>
            <a:ext cx="10613372" cy="4719320"/>
          </a:xfrm>
          <a:prstGeom prst="rect">
            <a:avLst/>
          </a:prstGeom>
        </p:spPr>
        <p:txBody>
          <a:bodyPr wrap="square" lIns="0" tIns="0" rIns="0" bIns="0">
            <a:spAutoFit/>
          </a:bodyPr>
          <a:lstStyle>
            <a:lvl1pPr>
              <a:defRPr sz="24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7/30/2026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248443"/>
            <a:ext cx="11994931" cy="1123157"/>
          </a:xfrm>
          <a:prstGeom prst="rect">
            <a:avLst/>
          </a:prstGeom>
        </p:spPr>
      </p:pic>
      <p:sp>
        <p:nvSpPr>
          <p:cNvPr id="3" name="object 3"/>
          <p:cNvSpPr txBox="1">
            <a:spLocks noGrp="1"/>
          </p:cNvSpPr>
          <p:nvPr>
            <p:ph type="title"/>
          </p:nvPr>
        </p:nvSpPr>
        <p:spPr>
          <a:xfrm>
            <a:off x="2563738" y="1732135"/>
            <a:ext cx="10360412" cy="860877"/>
          </a:xfrm>
          <a:prstGeom prst="rect">
            <a:avLst/>
          </a:prstGeom>
        </p:spPr>
        <p:txBody>
          <a:bodyPr vert="horz" wrap="square" lIns="0" tIns="0" rIns="0" bIns="0" rtlCol="0">
            <a:spAutoFit/>
          </a:bodyPr>
          <a:lstStyle/>
          <a:p>
            <a:pPr marL="4220845" marR="5080" indent="-4208780">
              <a:lnSpc>
                <a:spcPct val="102899"/>
              </a:lnSpc>
            </a:pPr>
            <a:r>
              <a:rPr lang="en-US" sz="2800" dirty="0"/>
              <a:t>CAPSTONE PROJECT PRESENTATION</a:t>
            </a:r>
            <a:endParaRPr sz="2800" dirty="0"/>
          </a:p>
        </p:txBody>
      </p:sp>
      <p:sp>
        <p:nvSpPr>
          <p:cNvPr id="4" name="object 4"/>
          <p:cNvSpPr txBox="1"/>
          <p:nvPr/>
        </p:nvSpPr>
        <p:spPr>
          <a:xfrm>
            <a:off x="1228699" y="2309164"/>
            <a:ext cx="9537532" cy="1601721"/>
          </a:xfrm>
          <a:prstGeom prst="rect">
            <a:avLst/>
          </a:prstGeom>
        </p:spPr>
        <p:txBody>
          <a:bodyPr vert="horz" wrap="square" lIns="0" tIns="95250" rIns="0" bIns="0" rtlCol="0">
            <a:spAutoFit/>
          </a:bodyPr>
          <a:lstStyle/>
          <a:p>
            <a:pPr algn="ctr">
              <a:lnSpc>
                <a:spcPct val="100000"/>
              </a:lnSpc>
              <a:spcBef>
                <a:spcPts val="750"/>
              </a:spcBef>
            </a:pPr>
            <a:r>
              <a:rPr sz="2800" b="1" dirty="0">
                <a:latin typeface="Times New Roman"/>
                <a:cs typeface="Times New Roman"/>
              </a:rPr>
              <a:t>PROJECT</a:t>
            </a:r>
            <a:r>
              <a:rPr sz="2800" b="1" spc="-145" dirty="0">
                <a:latin typeface="Times New Roman"/>
                <a:cs typeface="Times New Roman"/>
              </a:rPr>
              <a:t> </a:t>
            </a:r>
            <a:r>
              <a:rPr sz="2800" b="1" spc="-10" dirty="0">
                <a:latin typeface="Times New Roman"/>
                <a:cs typeface="Times New Roman"/>
              </a:rPr>
              <a:t>TITLE</a:t>
            </a:r>
            <a:endParaRPr sz="2800" dirty="0">
              <a:latin typeface="Times New Roman"/>
              <a:cs typeface="Times New Roman"/>
            </a:endParaRPr>
          </a:p>
          <a:p>
            <a:pPr algn="ctr">
              <a:lnSpc>
                <a:spcPct val="100000"/>
              </a:lnSpc>
              <a:spcBef>
                <a:spcPts val="745"/>
              </a:spcBef>
            </a:pPr>
            <a:r>
              <a:rPr lang="en-US" sz="3200" b="1" spc="-30" dirty="0">
                <a:solidFill>
                  <a:srgbClr val="0070C0"/>
                </a:solidFill>
                <a:latin typeface="Times New Roman"/>
                <a:cs typeface="Times New Roman"/>
              </a:rPr>
              <a:t>“Intelligent Robot Path Planning Using Reinforcement Learning.”</a:t>
            </a:r>
            <a:endParaRPr sz="3000" b="1" dirty="0">
              <a:solidFill>
                <a:srgbClr val="00B0F0"/>
              </a:solidFill>
              <a:latin typeface="Times New Roman"/>
              <a:cs typeface="Times New Roman"/>
            </a:endParaRPr>
          </a:p>
        </p:txBody>
      </p:sp>
      <p:sp>
        <p:nvSpPr>
          <p:cNvPr id="5" name="object 5"/>
          <p:cNvSpPr txBox="1"/>
          <p:nvPr/>
        </p:nvSpPr>
        <p:spPr>
          <a:xfrm>
            <a:off x="926339" y="4740615"/>
            <a:ext cx="3274799" cy="2131353"/>
          </a:xfrm>
          <a:prstGeom prst="rect">
            <a:avLst/>
          </a:prstGeom>
        </p:spPr>
        <p:txBody>
          <a:bodyPr vert="horz" wrap="square" lIns="0" tIns="12700" rIns="0" bIns="0" rtlCol="0">
            <a:spAutoFit/>
          </a:bodyPr>
          <a:lstStyle/>
          <a:p>
            <a:pPr marL="199390" marR="191135" indent="-635" algn="ctr">
              <a:lnSpc>
                <a:spcPct val="150000"/>
              </a:lnSpc>
              <a:spcBef>
                <a:spcPts val="100"/>
              </a:spcBef>
            </a:pPr>
            <a:r>
              <a:rPr sz="1800" b="1" dirty="0">
                <a:latin typeface="Times New Roman"/>
                <a:cs typeface="Times New Roman"/>
              </a:rPr>
              <a:t>PRESENTED</a:t>
            </a:r>
            <a:r>
              <a:rPr sz="1800" b="1" spc="-45" dirty="0">
                <a:latin typeface="Times New Roman"/>
                <a:cs typeface="Times New Roman"/>
              </a:rPr>
              <a:t> </a:t>
            </a:r>
            <a:r>
              <a:rPr sz="1800" b="1" spc="-25" dirty="0">
                <a:latin typeface="Times New Roman"/>
                <a:cs typeface="Times New Roman"/>
              </a:rPr>
              <a:t>BY </a:t>
            </a:r>
            <a:endParaRPr lang="en-IN" b="1" spc="-10" dirty="0">
              <a:latin typeface="Times New Roman"/>
              <a:cs typeface="Times New Roman"/>
            </a:endParaRPr>
          </a:p>
          <a:p>
            <a:pPr marL="199390" marR="191135" indent="-635" algn="ctr">
              <a:lnSpc>
                <a:spcPct val="150000"/>
              </a:lnSpc>
              <a:spcBef>
                <a:spcPts val="100"/>
              </a:spcBef>
            </a:pPr>
            <a:r>
              <a:rPr lang="en-IN" sz="1800" b="1" spc="-10" dirty="0">
                <a:latin typeface="Times New Roman"/>
                <a:cs typeface="Times New Roman"/>
              </a:rPr>
              <a:t>Pradeepkumar (192425016)</a:t>
            </a:r>
          </a:p>
          <a:p>
            <a:pPr algn="ctr">
              <a:lnSpc>
                <a:spcPct val="100000"/>
              </a:lnSpc>
              <a:spcBef>
                <a:spcPts val="1080"/>
              </a:spcBef>
            </a:pPr>
            <a:endParaRPr sz="1800" dirty="0">
              <a:latin typeface="Times New Roman"/>
              <a:cs typeface="Times New Roman"/>
            </a:endParaRPr>
          </a:p>
        </p:txBody>
      </p:sp>
      <p:sp>
        <p:nvSpPr>
          <p:cNvPr id="6" name="object 6">
            <a:extLst>
              <a:ext uri="{FF2B5EF4-FFF2-40B4-BE49-F238E27FC236}">
                <a16:creationId xmlns:a16="http://schemas.microsoft.com/office/drawing/2014/main" id="{0C0E4D1B-964F-3BDE-2343-B8A0B94A3E69}"/>
              </a:ext>
            </a:extLst>
          </p:cNvPr>
          <p:cNvSpPr txBox="1"/>
          <p:nvPr/>
        </p:nvSpPr>
        <p:spPr>
          <a:xfrm>
            <a:off x="8305800" y="4697072"/>
            <a:ext cx="2086610" cy="871008"/>
          </a:xfrm>
          <a:prstGeom prst="rect">
            <a:avLst/>
          </a:prstGeom>
        </p:spPr>
        <p:txBody>
          <a:bodyPr vert="horz" wrap="square" lIns="0" tIns="182880" rIns="0" bIns="0" rtlCol="0">
            <a:spAutoFit/>
          </a:bodyPr>
          <a:lstStyle>
            <a:defPPr>
              <a:defRPr kern="0"/>
            </a:defPPr>
          </a:lstStyle>
          <a:p>
            <a:pPr marL="635" algn="ctr">
              <a:lnSpc>
                <a:spcPct val="100000"/>
              </a:lnSpc>
              <a:spcBef>
                <a:spcPts val="1440"/>
              </a:spcBef>
            </a:pPr>
            <a:r>
              <a:rPr sz="2000" dirty="0">
                <a:latin typeface="Times New Roman"/>
                <a:cs typeface="Times New Roman"/>
              </a:rPr>
              <a:t>GUIDED</a:t>
            </a:r>
            <a:r>
              <a:rPr sz="2000" spc="-110" dirty="0">
                <a:latin typeface="Times New Roman"/>
                <a:cs typeface="Times New Roman"/>
              </a:rPr>
              <a:t> </a:t>
            </a:r>
            <a:r>
              <a:rPr sz="2000" spc="-25" dirty="0">
                <a:latin typeface="Times New Roman"/>
                <a:cs typeface="Times New Roman"/>
              </a:rPr>
              <a:t>BY</a:t>
            </a:r>
            <a:endParaRPr sz="2000" dirty="0">
              <a:latin typeface="Times New Roman"/>
              <a:cs typeface="Times New Roman"/>
            </a:endParaRPr>
          </a:p>
          <a:p>
            <a:pPr marL="12700" marR="5080" algn="ctr">
              <a:lnSpc>
                <a:spcPct val="150000"/>
              </a:lnSpc>
              <a:spcBef>
                <a:spcPts val="130"/>
              </a:spcBef>
            </a:pPr>
            <a:r>
              <a:rPr sz="1800" b="1" spc="-20" dirty="0" err="1">
                <a:latin typeface="Times New Roman"/>
                <a:cs typeface="Times New Roman"/>
              </a:rPr>
              <a:t>Dr.Saravanan.M.S</a:t>
            </a:r>
            <a:r>
              <a:rPr sz="1800" b="1" spc="50" dirty="0">
                <a:latin typeface="Times New Roman"/>
                <a:cs typeface="Times New Roman"/>
              </a:rPr>
              <a:t> </a:t>
            </a:r>
            <a:endParaRPr sz="1800"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57352" y="191626"/>
            <a:ext cx="974142" cy="1234620"/>
          </a:xfrm>
          <a:prstGeom prst="rect">
            <a:avLst/>
          </a:prstGeom>
        </p:spPr>
      </p:pic>
      <p:pic>
        <p:nvPicPr>
          <p:cNvPr id="3" name="object 3"/>
          <p:cNvPicPr/>
          <p:nvPr/>
        </p:nvPicPr>
        <p:blipFill>
          <a:blip r:embed="rId3" cstate="print"/>
          <a:stretch>
            <a:fillRect/>
          </a:stretch>
        </p:blipFill>
        <p:spPr>
          <a:xfrm>
            <a:off x="10662157" y="83363"/>
            <a:ext cx="1520113" cy="1342883"/>
          </a:xfrm>
          <a:prstGeom prst="rect">
            <a:avLst/>
          </a:prstGeom>
        </p:spPr>
      </p:pic>
      <p:sp>
        <p:nvSpPr>
          <p:cNvPr id="4" name="object 4"/>
          <p:cNvSpPr txBox="1">
            <a:spLocks noGrp="1"/>
          </p:cNvSpPr>
          <p:nvPr>
            <p:ph type="body" idx="1"/>
          </p:nvPr>
        </p:nvSpPr>
        <p:spPr>
          <a:xfrm>
            <a:off x="789312" y="1439453"/>
            <a:ext cx="10945487" cy="4574137"/>
          </a:xfrm>
          <a:prstGeom prst="rect">
            <a:avLst/>
          </a:prstGeom>
        </p:spPr>
        <p:txBody>
          <a:bodyPr vert="horz" wrap="square" lIns="0" tIns="12700" rIns="0" bIns="0" rtlCol="0">
            <a:spAutoFit/>
          </a:bodyPr>
          <a:lstStyle/>
          <a:p>
            <a:pPr marL="342900" indent="-342900" algn="l">
              <a:lnSpc>
                <a:spcPct val="150000"/>
              </a:lnSpc>
              <a:buFont typeface="Wingdings" panose="05000000000000000000" pitchFamily="2" charset="2"/>
              <a:buChar char="Ø"/>
            </a:pPr>
            <a:r>
              <a:rPr lang="en-US" sz="1800" b="0" dirty="0"/>
              <a:t> An Intelligent Robot Path Planning system using Reinforcement Learning is designed to enable a robot to autonomously find the optimal path from a starting point to a destination within a grid-based environment.</a:t>
            </a:r>
          </a:p>
          <a:p>
            <a:pPr marL="342900" indent="-342900" algn="l">
              <a:lnSpc>
                <a:spcPct val="150000"/>
              </a:lnSpc>
              <a:buFont typeface="Wingdings" panose="05000000000000000000" pitchFamily="2" charset="2"/>
              <a:buChar char="Ø"/>
            </a:pPr>
            <a:r>
              <a:rPr lang="en-US" sz="1800" b="0" dirty="0"/>
              <a:t>The environment is modeled using grid size, obstacle positions, and the destination point, allowing the robot to sense and interact with its surroundings during simulation.</a:t>
            </a:r>
          </a:p>
          <a:p>
            <a:pPr marL="342900" indent="-342900" algn="l">
              <a:lnSpc>
                <a:spcPct val="150000"/>
              </a:lnSpc>
              <a:buFont typeface="Wingdings" panose="05000000000000000000" pitchFamily="2" charset="2"/>
              <a:buChar char="Ø"/>
            </a:pPr>
            <a:r>
              <a:rPr lang="en-US" sz="1800" b="1" dirty="0"/>
              <a:t>Purpose of the Project</a:t>
            </a:r>
          </a:p>
          <a:p>
            <a:pPr marL="342900" indent="-342900" algn="l">
              <a:lnSpc>
                <a:spcPct val="150000"/>
              </a:lnSpc>
              <a:buFont typeface="Wingdings" panose="05000000000000000000" pitchFamily="2" charset="2"/>
              <a:buChar char="Ø"/>
            </a:pPr>
            <a:r>
              <a:rPr lang="en-US" sz="1800" b="0" dirty="0"/>
              <a:t> Based on this environment, Value Iteration and Policy Iteration algorithms are used to train the agent to learn the optimal policy for navigating from the source to the destination while avoiding obstacles.</a:t>
            </a:r>
          </a:p>
          <a:p>
            <a:pPr marL="342900" indent="-342900" algn="l">
              <a:lnSpc>
                <a:spcPct val="150000"/>
              </a:lnSpc>
              <a:buFont typeface="Wingdings" panose="05000000000000000000" pitchFamily="2" charset="2"/>
              <a:buChar char="Ø"/>
            </a:pPr>
            <a:r>
              <a:rPr lang="en-US" sz="1800" b="0" dirty="0"/>
              <a:t> This system helps improve navigation efficiency, minimizes the risk of collisions, and reduces reliance on manual, hand-coded path planning.</a:t>
            </a:r>
          </a:p>
          <a:p>
            <a:pPr marL="342900" indent="-342900" algn="l">
              <a:lnSpc>
                <a:spcPct val="150000"/>
              </a:lnSpc>
              <a:buFont typeface="Wingdings" panose="05000000000000000000" pitchFamily="2" charset="2"/>
              <a:buChar char="Ø"/>
            </a:pPr>
            <a:r>
              <a:rPr lang="en-US" sz="1800" b="0" dirty="0"/>
              <a:t> It also promotes smarter, adaptive robot navigation with applications in real-world autonomous robotics and self-driving systems.</a:t>
            </a:r>
          </a:p>
        </p:txBody>
      </p:sp>
      <p:sp>
        <p:nvSpPr>
          <p:cNvPr id="5" name="object 5"/>
          <p:cNvSpPr txBox="1">
            <a:spLocks noGrp="1"/>
          </p:cNvSpPr>
          <p:nvPr>
            <p:ph type="title"/>
          </p:nvPr>
        </p:nvSpPr>
        <p:spPr>
          <a:prstGeom prst="rect">
            <a:avLst/>
          </a:prstGeom>
        </p:spPr>
        <p:txBody>
          <a:bodyPr vert="horz" wrap="square" lIns="0" tIns="304043" rIns="0" bIns="0" rtlCol="0">
            <a:spAutoFit/>
          </a:bodyPr>
          <a:lstStyle/>
          <a:p>
            <a:pPr marL="2515870">
              <a:lnSpc>
                <a:spcPct val="100000"/>
              </a:lnSpc>
              <a:spcBef>
                <a:spcPts val="100"/>
              </a:spcBef>
            </a:pPr>
            <a:r>
              <a:rPr sz="3200" spc="-10" dirty="0"/>
              <a:t>ABSTRACT</a:t>
            </a:r>
            <a:endParaRPr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514231" y="191626"/>
            <a:ext cx="1520113" cy="1342883"/>
          </a:xfrm>
          <a:prstGeom prst="rect">
            <a:avLst/>
          </a:prstGeom>
        </p:spPr>
      </p:pic>
      <p:pic>
        <p:nvPicPr>
          <p:cNvPr id="3" name="object 3"/>
          <p:cNvPicPr/>
          <p:nvPr/>
        </p:nvPicPr>
        <p:blipFill>
          <a:blip r:embed="rId3" cstate="print"/>
          <a:stretch>
            <a:fillRect/>
          </a:stretch>
        </p:blipFill>
        <p:spPr>
          <a:xfrm>
            <a:off x="357352" y="191626"/>
            <a:ext cx="1135116" cy="1342883"/>
          </a:xfrm>
          <a:prstGeom prst="rect">
            <a:avLst/>
          </a:prstGeom>
        </p:spPr>
      </p:pic>
      <p:sp>
        <p:nvSpPr>
          <p:cNvPr id="4" name="object 4"/>
          <p:cNvSpPr txBox="1">
            <a:spLocks noGrp="1"/>
          </p:cNvSpPr>
          <p:nvPr>
            <p:ph type="title"/>
          </p:nvPr>
        </p:nvSpPr>
        <p:spPr>
          <a:xfrm>
            <a:off x="3505200" y="863067"/>
            <a:ext cx="9144000" cy="505267"/>
          </a:xfrm>
          <a:prstGeom prst="rect">
            <a:avLst/>
          </a:prstGeom>
        </p:spPr>
        <p:txBody>
          <a:bodyPr vert="horz" wrap="square" lIns="0" tIns="12700" rIns="0" bIns="0" rtlCol="0">
            <a:spAutoFit/>
          </a:bodyPr>
          <a:lstStyle/>
          <a:p>
            <a:pPr marL="2112645" marR="5080" indent="-2100580">
              <a:lnSpc>
                <a:spcPct val="100000"/>
              </a:lnSpc>
              <a:spcBef>
                <a:spcPts val="100"/>
              </a:spcBef>
            </a:pPr>
            <a:r>
              <a:rPr sz="3200" dirty="0"/>
              <a:t>PROBLEM </a:t>
            </a:r>
            <a:r>
              <a:rPr sz="3200" spc="-10" dirty="0"/>
              <a:t>STATEMENT</a:t>
            </a:r>
          </a:p>
        </p:txBody>
      </p:sp>
      <p:sp>
        <p:nvSpPr>
          <p:cNvPr id="5" name="object 5"/>
          <p:cNvSpPr txBox="1"/>
          <p:nvPr/>
        </p:nvSpPr>
        <p:spPr>
          <a:xfrm>
            <a:off x="685801" y="1861063"/>
            <a:ext cx="11348544" cy="5035802"/>
          </a:xfrm>
          <a:prstGeom prst="rect">
            <a:avLst/>
          </a:prstGeom>
        </p:spPr>
        <p:txBody>
          <a:bodyPr vert="horz" wrap="square" lIns="0" tIns="12700" rIns="0" bIns="0" rtlCol="0">
            <a:spAutoFit/>
          </a:bodyPr>
          <a:lstStyle/>
          <a:p>
            <a:pPr marL="342900" indent="-342900">
              <a:lnSpc>
                <a:spcPct val="150000"/>
              </a:lnSpc>
              <a:buFont typeface="Wingdings" panose="05000000000000000000" pitchFamily="2" charset="2"/>
              <a:buChar char="Ø"/>
            </a:pPr>
            <a:r>
              <a:rPr lang="en-US" sz="2000" b="0" dirty="0">
                <a:latin typeface="Times New Roman" panose="02020603050405020304" pitchFamily="18" charset="0"/>
                <a:cs typeface="Times New Roman" panose="02020603050405020304" pitchFamily="18" charset="0"/>
              </a:rPr>
              <a:t>Traditional robot path planning methods rely on static, pre-programmed paths and are unable to adapt to obstacles or changes in the grid environment.</a:t>
            </a:r>
          </a:p>
          <a:p>
            <a:pPr marL="342900" indent="-342900">
              <a:lnSpc>
                <a:spcPct val="150000"/>
              </a:lnSpc>
              <a:buFont typeface="Wingdings" panose="05000000000000000000" pitchFamily="2" charset="2"/>
              <a:buChar char="Ø"/>
            </a:pPr>
            <a:r>
              <a:rPr lang="en-US" sz="2000" b="0" dirty="0">
                <a:latin typeface="Times New Roman" panose="02020603050405020304" pitchFamily="18" charset="0"/>
                <a:cs typeface="Times New Roman" panose="02020603050405020304" pitchFamily="18" charset="0"/>
              </a:rPr>
              <a:t>Manual path planning approaches do not guarantee the shortest or most efficient route, leading to longer travel time and a higher chance of navigation failure.</a:t>
            </a:r>
          </a:p>
          <a:p>
            <a:pPr marL="342900" indent="-342900">
              <a:lnSpc>
                <a:spcPct val="150000"/>
              </a:lnSpc>
              <a:buFont typeface="Wingdings" panose="05000000000000000000" pitchFamily="2" charset="2"/>
              <a:buChar char="Ø"/>
            </a:pPr>
            <a:r>
              <a:rPr lang="en-US" sz="2000" b="0" dirty="0">
                <a:latin typeface="Times New Roman" panose="02020603050405020304" pitchFamily="18" charset="0"/>
                <a:cs typeface="Times New Roman" panose="02020603050405020304" pitchFamily="18" charset="0"/>
              </a:rPr>
              <a:t>Existing systems lack a learning-based approach, so the robot cannot improve its navigation strategy through experience and interaction with the environment.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514231" y="191626"/>
            <a:ext cx="1520113" cy="1342883"/>
          </a:xfrm>
          <a:prstGeom prst="rect">
            <a:avLst/>
          </a:prstGeom>
        </p:spPr>
      </p:pic>
      <p:pic>
        <p:nvPicPr>
          <p:cNvPr id="3" name="object 3"/>
          <p:cNvPicPr/>
          <p:nvPr/>
        </p:nvPicPr>
        <p:blipFill>
          <a:blip r:embed="rId3" cstate="print"/>
          <a:stretch>
            <a:fillRect/>
          </a:stretch>
        </p:blipFill>
        <p:spPr>
          <a:xfrm>
            <a:off x="357352" y="191626"/>
            <a:ext cx="1135116" cy="1342883"/>
          </a:xfrm>
          <a:prstGeom prst="rect">
            <a:avLst/>
          </a:prstGeom>
        </p:spPr>
      </p:pic>
      <p:sp>
        <p:nvSpPr>
          <p:cNvPr id="4" name="object 4"/>
          <p:cNvSpPr txBox="1">
            <a:spLocks noGrp="1"/>
          </p:cNvSpPr>
          <p:nvPr>
            <p:ph type="title"/>
          </p:nvPr>
        </p:nvSpPr>
        <p:spPr>
          <a:xfrm>
            <a:off x="4572000" y="950772"/>
            <a:ext cx="9144000" cy="505267"/>
          </a:xfrm>
          <a:prstGeom prst="rect">
            <a:avLst/>
          </a:prstGeom>
        </p:spPr>
        <p:txBody>
          <a:bodyPr vert="horz" wrap="square" lIns="0" tIns="12700" rIns="0" bIns="0" rtlCol="0">
            <a:spAutoFit/>
          </a:bodyPr>
          <a:lstStyle/>
          <a:p>
            <a:pPr marL="2112645" marR="5080" indent="-2100580">
              <a:lnSpc>
                <a:spcPct val="100000"/>
              </a:lnSpc>
              <a:spcBef>
                <a:spcPts val="100"/>
              </a:spcBef>
            </a:pPr>
            <a:r>
              <a:rPr sz="3200" spc="-10" dirty="0"/>
              <a:t>OBJECTIVES</a:t>
            </a:r>
          </a:p>
        </p:txBody>
      </p:sp>
      <p:sp>
        <p:nvSpPr>
          <p:cNvPr id="5" name="object 5"/>
          <p:cNvSpPr txBox="1"/>
          <p:nvPr/>
        </p:nvSpPr>
        <p:spPr>
          <a:xfrm>
            <a:off x="685801" y="1861063"/>
            <a:ext cx="11348544" cy="5035802"/>
          </a:xfrm>
          <a:prstGeom prst="rect">
            <a:avLst/>
          </a:prstGeom>
        </p:spPr>
        <p:txBody>
          <a:bodyPr vert="horz" wrap="square" lIns="0" tIns="12700" rIns="0" bIns="0" rtlCol="0">
            <a:spAutoFit/>
          </a:bodyPr>
          <a:lstStyle/>
          <a:p>
            <a:pPr marL="342900" indent="-342900">
              <a:lnSpc>
                <a:spcPct val="150000"/>
              </a:lnSpc>
              <a:buFont typeface="Wingdings" panose="05000000000000000000" pitchFamily="2" charset="2"/>
              <a:buChar char="Ø"/>
            </a:pPr>
            <a:r>
              <a:rPr lang="en-US" sz="2000" b="0" dirty="0">
                <a:latin typeface="Times New Roman" panose="02020603050405020304" pitchFamily="18" charset="0"/>
                <a:cs typeface="Times New Roman" panose="02020603050405020304" pitchFamily="18" charset="0"/>
              </a:rPr>
              <a:t>To develop a grid-based simulation environment that defines the grid size, obstacle positions, and the destination for robot navigation.</a:t>
            </a:r>
          </a:p>
          <a:p>
            <a:pPr marL="342900" indent="-342900">
              <a:lnSpc>
                <a:spcPct val="150000"/>
              </a:lnSpc>
              <a:buFont typeface="Wingdings" panose="05000000000000000000" pitchFamily="2" charset="2"/>
              <a:buChar char="Ø"/>
            </a:pPr>
            <a:r>
              <a:rPr lang="en-US" sz="2000" b="0" dirty="0">
                <a:latin typeface="Times New Roman" panose="02020603050405020304" pitchFamily="18" charset="0"/>
                <a:cs typeface="Times New Roman" panose="02020603050405020304" pitchFamily="18" charset="0"/>
              </a:rPr>
              <a:t>To implement and train the agent using the Value Iteration algorithm to compute the optimal policy for reaching the destination while avoiding obstacles.</a:t>
            </a:r>
          </a:p>
          <a:p>
            <a:pPr marL="342900" indent="-342900">
              <a:lnSpc>
                <a:spcPct val="150000"/>
              </a:lnSpc>
              <a:buFont typeface="Wingdings" panose="05000000000000000000" pitchFamily="2" charset="2"/>
              <a:buChar char="Ø"/>
            </a:pPr>
            <a:r>
              <a:rPr lang="en-US" sz="2000" b="0" dirty="0">
                <a:latin typeface="Times New Roman" panose="02020603050405020304" pitchFamily="18" charset="0"/>
                <a:cs typeface="Times New Roman" panose="02020603050405020304" pitchFamily="18" charset="0"/>
              </a:rPr>
              <a:t>To implement and train the agent using the Policy Iteration algorithm, and compare its performance against Value Iteration based on path length and success rate.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57352" y="191626"/>
            <a:ext cx="974142" cy="1234620"/>
          </a:xfrm>
          <a:prstGeom prst="rect">
            <a:avLst/>
          </a:prstGeom>
        </p:spPr>
      </p:pic>
      <p:pic>
        <p:nvPicPr>
          <p:cNvPr id="3" name="object 3"/>
          <p:cNvPicPr/>
          <p:nvPr/>
        </p:nvPicPr>
        <p:blipFill>
          <a:blip r:embed="rId3" cstate="print"/>
          <a:stretch>
            <a:fillRect/>
          </a:stretch>
        </p:blipFill>
        <p:spPr>
          <a:xfrm>
            <a:off x="10662157" y="83363"/>
            <a:ext cx="1520113" cy="1342883"/>
          </a:xfrm>
          <a:prstGeom prst="rect">
            <a:avLst/>
          </a:prstGeom>
        </p:spPr>
      </p:pic>
      <p:sp>
        <p:nvSpPr>
          <p:cNvPr id="4" name="object 4"/>
          <p:cNvSpPr txBox="1">
            <a:spLocks noGrp="1"/>
          </p:cNvSpPr>
          <p:nvPr>
            <p:ph type="title"/>
          </p:nvPr>
        </p:nvSpPr>
        <p:spPr>
          <a:xfrm>
            <a:off x="2019622" y="95849"/>
            <a:ext cx="7432675" cy="898709"/>
          </a:xfrm>
          <a:prstGeom prst="rect">
            <a:avLst/>
          </a:prstGeom>
        </p:spPr>
        <p:txBody>
          <a:bodyPr vert="horz" wrap="square" lIns="0" tIns="402337" rIns="0" bIns="0" rtlCol="0">
            <a:spAutoFit/>
          </a:bodyPr>
          <a:lstStyle/>
          <a:p>
            <a:pPr marL="1860550">
              <a:lnSpc>
                <a:spcPct val="100000"/>
              </a:lnSpc>
              <a:spcBef>
                <a:spcPts val="100"/>
              </a:spcBef>
            </a:pPr>
            <a:r>
              <a:rPr sz="3200" spc="-10" dirty="0"/>
              <a:t>ABOUT THE PROJECT</a:t>
            </a:r>
          </a:p>
        </p:txBody>
      </p:sp>
      <p:sp>
        <p:nvSpPr>
          <p:cNvPr id="5" name="object 5"/>
          <p:cNvSpPr txBox="1"/>
          <p:nvPr/>
        </p:nvSpPr>
        <p:spPr>
          <a:xfrm>
            <a:off x="609600" y="1426246"/>
            <a:ext cx="11141658" cy="5139227"/>
          </a:xfrm>
          <a:prstGeom prst="rect">
            <a:avLst/>
          </a:prstGeom>
        </p:spPr>
        <p:txBody>
          <a:bodyPr vert="horz" wrap="square" lIns="0" tIns="12700" rIns="0" bIns="0" rtlCol="0">
            <a:spAutoFit/>
          </a:bodyPr>
          <a:lstStyle/>
          <a:p>
            <a:pPr marL="342900" indent="-342900">
              <a:lnSpc>
                <a:spcPct val="150000"/>
              </a:lnSpc>
              <a:buFont typeface="Wingdings" panose="05000000000000000000" pitchFamily="2" charset="2"/>
              <a:buChar char="Ø"/>
            </a:pPr>
            <a:r>
              <a:rPr lang="en-US" sz="1600" b="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Intelligent Robot Path Planning Using Reinforcement Learning</a:t>
            </a:r>
            <a:r>
              <a:rPr lang="en-US" sz="1600" b="0" dirty="0">
                <a:latin typeface="Times New Roman" panose="02020603050405020304" pitchFamily="18" charset="0"/>
                <a:cs typeface="Times New Roman" panose="02020603050405020304" pitchFamily="18" charset="0"/>
              </a:rPr>
              <a:t> is a simulation-based project in which a robot agent learns, through trial and reward, to navigate a grid environment and reach a fixed destination while avoiding obstacles.</a:t>
            </a:r>
          </a:p>
          <a:p>
            <a:pPr marL="342900" indent="-342900">
              <a:lnSpc>
                <a:spcPct val="150000"/>
              </a:lnSpc>
              <a:buFont typeface="Wingdings" panose="05000000000000000000" pitchFamily="2" charset="2"/>
              <a:buChar char="Ø"/>
            </a:pPr>
            <a:r>
              <a:rPr lang="en-US" sz="1600" b="0" dirty="0">
                <a:latin typeface="Times New Roman" panose="02020603050405020304" pitchFamily="18" charset="0"/>
                <a:cs typeface="Times New Roman" panose="02020603050405020304" pitchFamily="18" charset="0"/>
              </a:rPr>
              <a:t>It is built to demonstrate how reinforcement learning can replace hand-coded navigation logic, allowing a robot to make intelligent path decisions on its own.</a:t>
            </a: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Applications:</a:t>
            </a:r>
          </a:p>
          <a:p>
            <a:pPr marL="342900" indent="-342900">
              <a:lnSpc>
                <a:spcPct val="150000"/>
              </a:lnSpc>
              <a:buFont typeface="Wingdings" panose="05000000000000000000" pitchFamily="2" charset="2"/>
              <a:buChar char="Ø"/>
            </a:pPr>
            <a:r>
              <a:rPr lang="en-US" sz="1600" b="0" dirty="0">
                <a:latin typeface="Times New Roman" panose="02020603050405020304" pitchFamily="18" charset="0"/>
                <a:cs typeface="Times New Roman" panose="02020603050405020304" pitchFamily="18" charset="0"/>
              </a:rPr>
              <a:t>This approach is useful for</a:t>
            </a:r>
            <a:br>
              <a:rPr lang="en-US" sz="1600" dirty="0">
                <a:latin typeface="Times New Roman" panose="02020603050405020304" pitchFamily="18" charset="0"/>
                <a:cs typeface="Times New Roman" panose="02020603050405020304" pitchFamily="18" charset="0"/>
              </a:rPr>
            </a:br>
            <a:r>
              <a:rPr lang="en-US" sz="1600" b="0" dirty="0">
                <a:latin typeface="Times New Roman" panose="02020603050405020304" pitchFamily="18" charset="0"/>
                <a:cs typeface="Times New Roman" panose="02020603050405020304" pitchFamily="18" charset="0"/>
              </a:rPr>
              <a:t>• warehouse and delivery robots</a:t>
            </a:r>
            <a:br>
              <a:rPr lang="en-US" sz="1600" dirty="0">
                <a:latin typeface="Times New Roman" panose="02020603050405020304" pitchFamily="18" charset="0"/>
                <a:cs typeface="Times New Roman" panose="02020603050405020304" pitchFamily="18" charset="0"/>
              </a:rPr>
            </a:br>
            <a:r>
              <a:rPr lang="en-US" sz="1600" b="0" dirty="0">
                <a:latin typeface="Times New Roman" panose="02020603050405020304" pitchFamily="18" charset="0"/>
                <a:cs typeface="Times New Roman" panose="02020603050405020304" pitchFamily="18" charset="0"/>
              </a:rPr>
              <a:t>• autonomous mobile robots</a:t>
            </a:r>
            <a:br>
              <a:rPr lang="en-US" sz="1600" dirty="0">
                <a:latin typeface="Times New Roman" panose="02020603050405020304" pitchFamily="18" charset="0"/>
                <a:cs typeface="Times New Roman" panose="02020603050405020304" pitchFamily="18" charset="0"/>
              </a:rPr>
            </a:br>
            <a:r>
              <a:rPr lang="en-US" sz="1600" b="0" dirty="0">
                <a:latin typeface="Times New Roman" panose="02020603050405020304" pitchFamily="18" charset="0"/>
                <a:cs typeface="Times New Roman" panose="02020603050405020304" pitchFamily="18" charset="0"/>
              </a:rPr>
              <a:t>• self-driving navigation systems</a:t>
            </a:r>
          </a:p>
          <a:p>
            <a:pPr marL="342900" indent="-342900">
              <a:lnSpc>
                <a:spcPct val="150000"/>
              </a:lnSpc>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Work Carried Out:</a:t>
            </a:r>
          </a:p>
          <a:p>
            <a:pPr marL="342900" indent="-342900">
              <a:lnSpc>
                <a:spcPct val="150000"/>
              </a:lnSpc>
              <a:buFont typeface="Wingdings" panose="05000000000000000000" pitchFamily="2" charset="2"/>
              <a:buChar char="Ø"/>
            </a:pPr>
            <a:r>
              <a:rPr lang="en-US" sz="1600" b="0" dirty="0">
                <a:latin typeface="Times New Roman" panose="02020603050405020304" pitchFamily="18" charset="0"/>
                <a:cs typeface="Times New Roman" panose="02020603050405020304" pitchFamily="18" charset="0"/>
              </a:rPr>
              <a:t> Developed a grid-based simulation environment with configurable grid size, obstacle placement, and a destination cell. Trained the reinforcement learning model on the simulated grid so the agent learns the best action to take from every state.</a:t>
            </a:r>
          </a:p>
          <a:p>
            <a:pPr marL="342900" indent="-342900">
              <a:lnSpc>
                <a:spcPct val="150000"/>
              </a:lnSpc>
              <a:buFont typeface="Wingdings" panose="05000000000000000000" pitchFamily="2" charset="2"/>
              <a:buChar char="Ø"/>
            </a:pPr>
            <a:r>
              <a:rPr lang="en-US" sz="1600" b="0" dirty="0">
                <a:latin typeface="Times New Roman" panose="02020603050405020304" pitchFamily="18" charset="0"/>
                <a:cs typeface="Times New Roman" panose="02020603050405020304" pitchFamily="18" charset="0"/>
              </a:rPr>
              <a:t> Evaluated the trained model using path length and success rate as performance metrics.</a:t>
            </a:r>
          </a:p>
          <a:p>
            <a:pPr marL="342900" indent="-342900">
              <a:lnSpc>
                <a:spcPct val="150000"/>
              </a:lnSpc>
              <a:buFont typeface="Wingdings" panose="05000000000000000000" pitchFamily="2" charset="2"/>
              <a:buChar char="Ø"/>
            </a:pPr>
            <a:r>
              <a:rPr lang="en-US" sz="1600" b="0" dirty="0">
                <a:latin typeface="Times New Roman" panose="02020603050405020304" pitchFamily="18" charset="0"/>
                <a:cs typeface="Times New Roman" panose="02020603050405020304" pitchFamily="18" charset="0"/>
              </a:rPr>
              <a:t> Visualized the optimal path generated by the trained agent on the grid to verify correct, obstacle-free navigation.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241</TotalTime>
  <Words>497</Words>
  <Application>Microsoft Office PowerPoint</Application>
  <PresentationFormat>Widescreen</PresentationFormat>
  <Paragraphs>30</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Calibri</vt:lpstr>
      <vt:lpstr>Times New Roman</vt:lpstr>
      <vt:lpstr>Wingdings</vt:lpstr>
      <vt:lpstr>Office Theme</vt:lpstr>
      <vt:lpstr>CAPSTONE PROJECT PRESENTATION</vt:lpstr>
      <vt:lpstr>ABSTRACT</vt:lpstr>
      <vt:lpstr>PROBLEM STATEMENT</vt:lpstr>
      <vt:lpstr>OBJECTIVES</vt:lpstr>
      <vt:lpstr>ABOUT THE PROJECT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Model-Presentation.pptx</dc:title>
  <dc:creator>Anajali's</dc:creator>
  <cp:lastModifiedBy>pradeep kumar</cp:lastModifiedBy>
  <cp:revision>11</cp:revision>
  <dcterms:created xsi:type="dcterms:W3CDTF">2026-02-07T08:58:37Z</dcterms:created>
  <dcterms:modified xsi:type="dcterms:W3CDTF">2026-07-30T04:49:20Z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2026-02-07T00:00:00Z</vt:filetime>
  </property>
  <property fmtid="{D5CDD505-2E9C-101B-9397-08002B2CF9AE}" pid="3" name="Creator">
    <vt:lpwstr>Google</vt:lpwstr>
  </property>
  <property fmtid="{D5CDD505-2E9C-101B-9397-08002B2CF9AE}" pid="4" name="LastSaved">
    <vt:filetime>2026-02-07T00:00:00Z</vt:filetime>
  </property>
</Properties>
</file>