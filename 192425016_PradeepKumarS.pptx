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5" r:id="rId9"/>
    <p:sldId id="263" r:id="rId10"/>
    <p:sldId id="264" r:id="rId11"/>
    <p:sldId id="265" r:id="rId12"/>
    <p:sldId id="271" r:id="rId13"/>
    <p:sldId id="273" r:id="rId14"/>
    <p:sldId id="266" r:id="rId15"/>
    <p:sldId id="267" r:id="rId16"/>
    <p:sldId id="274" r:id="rId17"/>
    <p:sldId id="268" r:id="rId18"/>
    <p:sldId id="269" r:id="rId19"/>
    <p:sldId id="270" r:id="rId20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25C9690-FF60-45FD-8AB0-1C9F9B3B1BFB}" v="34" dt="2026-02-12T09:13:42.266"/>
    <p1510:client id="{E67AF303-C077-4B95-9BE4-259B3C31439E}" v="9" dt="2026-02-13T03:32:58.425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725" y="5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3017C1-87A4-494F-A7AC-0291AFA41638}" type="datetimeFigureOut">
              <a:rPr lang="en-IN" smtClean="0"/>
              <a:t>22-08-2026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DC76DB-B9AE-438B-932E-04B0A7EA8F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18373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DC76DB-B9AE-438B-932E-04B0A7EA8F78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29171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019622" y="95849"/>
            <a:ext cx="7432675" cy="124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89313" y="1439453"/>
            <a:ext cx="10613372" cy="47193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eg"/><Relationship Id="rId3" Type="http://schemas.openxmlformats.org/officeDocument/2006/relationships/image" Target="../media/image3.jpg"/><Relationship Id="rId7" Type="http://schemas.openxmlformats.org/officeDocument/2006/relationships/image" Target="../media/image10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g"/><Relationship Id="rId5" Type="http://schemas.openxmlformats.org/officeDocument/2006/relationships/image" Target="../media/image8.jpg"/><Relationship Id="rId4" Type="http://schemas.openxmlformats.org/officeDocument/2006/relationships/image" Target="../media/image7.jpg"/><Relationship Id="rId9" Type="http://schemas.openxmlformats.org/officeDocument/2006/relationships/image" Target="../media/image12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48443"/>
            <a:ext cx="11994931" cy="112315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04568" y="1490320"/>
            <a:ext cx="10360412" cy="8608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220845" marR="5080" indent="-4208780">
              <a:lnSpc>
                <a:spcPct val="102899"/>
              </a:lnSpc>
            </a:pPr>
            <a:r>
              <a:rPr lang="en-US" sz="2800" dirty="0"/>
              <a:t>DEPARTMENT OF ARTIFICIAL INTELLIGENCE AND MACHINE LEARNING</a:t>
            </a:r>
            <a:endParaRPr sz="2800" dirty="0"/>
          </a:p>
        </p:txBody>
      </p:sp>
      <p:sp>
        <p:nvSpPr>
          <p:cNvPr id="4" name="object 4"/>
          <p:cNvSpPr txBox="1"/>
          <p:nvPr/>
        </p:nvSpPr>
        <p:spPr>
          <a:xfrm>
            <a:off x="1228699" y="2309164"/>
            <a:ext cx="9537532" cy="1601721"/>
          </a:xfrm>
          <a:prstGeom prst="rect">
            <a:avLst/>
          </a:prstGeom>
        </p:spPr>
        <p:txBody>
          <a:bodyPr vert="horz" wrap="square" lIns="0" tIns="9525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50"/>
              </a:spcBef>
            </a:pPr>
            <a:r>
              <a:rPr sz="2800" b="1" dirty="0">
                <a:latin typeface="Times New Roman"/>
                <a:cs typeface="Times New Roman"/>
              </a:rPr>
              <a:t>PROJECT</a:t>
            </a:r>
            <a:r>
              <a:rPr sz="2800" b="1" spc="-145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TITLE</a:t>
            </a:r>
            <a:endParaRPr sz="2800"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745"/>
              </a:spcBef>
            </a:pPr>
            <a:r>
              <a:rPr lang="en-US" sz="3200" b="1" spc="-30" dirty="0">
                <a:solidFill>
                  <a:srgbClr val="0070C0"/>
                </a:solidFill>
                <a:latin typeface="Times New Roman"/>
                <a:cs typeface="Times New Roman"/>
              </a:rPr>
              <a:t>“Intelligent Robot Path Planning Using Reinforcement Learning – Warehouse Delivery Bot (Software Simulation).”</a:t>
            </a:r>
            <a:endParaRPr sz="3000" b="1" dirty="0">
              <a:solidFill>
                <a:srgbClr val="00B0F0"/>
              </a:solidFill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4568" y="4267200"/>
            <a:ext cx="3274799" cy="213135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9390" marR="191135" indent="-635" algn="ctr">
              <a:lnSpc>
                <a:spcPct val="150000"/>
              </a:lnSpc>
              <a:spcBef>
                <a:spcPts val="100"/>
              </a:spcBef>
            </a:pPr>
            <a:r>
              <a:rPr sz="1800" b="1" dirty="0">
                <a:latin typeface="Times New Roman"/>
                <a:cs typeface="Times New Roman"/>
              </a:rPr>
              <a:t>PRESENTED</a:t>
            </a:r>
            <a:r>
              <a:rPr sz="1800" b="1" spc="-45" dirty="0">
                <a:latin typeface="Times New Roman"/>
                <a:cs typeface="Times New Roman"/>
              </a:rPr>
              <a:t> </a:t>
            </a:r>
            <a:r>
              <a:rPr sz="1800" b="1" spc="-25" dirty="0">
                <a:latin typeface="Times New Roman"/>
                <a:cs typeface="Times New Roman"/>
              </a:rPr>
              <a:t>BY </a:t>
            </a:r>
            <a:endParaRPr lang="en-IN" b="1" spc="-10" dirty="0">
              <a:latin typeface="Times New Roman"/>
              <a:cs typeface="Times New Roman"/>
            </a:endParaRPr>
          </a:p>
          <a:p>
            <a:pPr marL="199390" marR="191135" indent="-635" algn="ctr">
              <a:lnSpc>
                <a:spcPct val="150000"/>
              </a:lnSpc>
              <a:spcBef>
                <a:spcPts val="100"/>
              </a:spcBef>
            </a:pPr>
            <a:r>
              <a:rPr lang="en-IN" sz="1800" b="1" spc="-10" dirty="0">
                <a:latin typeface="Times New Roman"/>
                <a:cs typeface="Times New Roman"/>
              </a:rPr>
              <a:t>Pradeep Kumar (192425016)</a:t>
            </a:r>
          </a:p>
          <a:p>
            <a:pPr marL="199390" marR="191135" indent="-635" algn="ctr">
              <a:lnSpc>
                <a:spcPct val="150000"/>
              </a:lnSpc>
              <a:spcBef>
                <a:spcPts val="100"/>
              </a:spcBef>
            </a:pPr>
            <a:endParaRPr lang="en-IN" sz="1800" b="1" spc="-10" dirty="0">
              <a:latin typeface="Times New Roman"/>
              <a:cs typeface="Times New Roman"/>
            </a:endParaRPr>
          </a:p>
          <a:p>
            <a:pPr marL="199390" marR="191135" indent="-635" algn="ctr">
              <a:lnSpc>
                <a:spcPct val="150000"/>
              </a:lnSpc>
              <a:spcBef>
                <a:spcPts val="100"/>
              </a:spcBef>
            </a:pPr>
            <a:endParaRPr lang="en-IN" sz="1800" b="1" spc="-10"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1080"/>
              </a:spcBef>
            </a:pPr>
            <a:endParaRPr sz="18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811248" y="4890482"/>
            <a:ext cx="2086610" cy="871008"/>
          </a:xfrm>
          <a:prstGeom prst="rect">
            <a:avLst/>
          </a:prstGeom>
        </p:spPr>
        <p:txBody>
          <a:bodyPr vert="horz" wrap="square" lIns="0" tIns="18288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440"/>
              </a:spcBef>
            </a:pPr>
            <a:r>
              <a:rPr sz="2000" dirty="0">
                <a:latin typeface="Times New Roman"/>
                <a:cs typeface="Times New Roman"/>
              </a:rPr>
              <a:t>GUIDED</a:t>
            </a:r>
            <a:r>
              <a:rPr sz="2000" spc="-11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BY</a:t>
            </a:r>
            <a:endParaRPr sz="2000" dirty="0">
              <a:latin typeface="Times New Roman"/>
              <a:cs typeface="Times New Roman"/>
            </a:endParaRPr>
          </a:p>
          <a:p>
            <a:pPr marL="12700" marR="5080" algn="ctr">
              <a:lnSpc>
                <a:spcPct val="150000"/>
              </a:lnSpc>
              <a:spcBef>
                <a:spcPts val="130"/>
              </a:spcBef>
            </a:pPr>
            <a:r>
              <a:rPr lang="en-IN" b="1" spc="-20" dirty="0" err="1">
                <a:latin typeface="Times New Roman"/>
                <a:cs typeface="Times New Roman"/>
              </a:rPr>
              <a:t>Dr.Saravanan.M.S</a:t>
            </a:r>
            <a:r>
              <a:rPr sz="1800" b="1" spc="50" dirty="0">
                <a:latin typeface="Times New Roman"/>
                <a:cs typeface="Times New Roman"/>
              </a:rPr>
              <a:t> </a:t>
            </a:r>
            <a:endParaRPr sz="1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26"/>
            <a:ext cx="974142" cy="123462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62157" y="83363"/>
            <a:ext cx="1520113" cy="1342883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019622" y="95849"/>
            <a:ext cx="7432675" cy="851516"/>
          </a:xfrm>
          <a:prstGeom prst="rect">
            <a:avLst/>
          </a:prstGeom>
        </p:spPr>
        <p:txBody>
          <a:bodyPr vert="horz" wrap="square" lIns="0" tIns="355601" rIns="0" bIns="0" rtlCol="0">
            <a:spAutoFit/>
          </a:bodyPr>
          <a:lstStyle/>
          <a:p>
            <a:pPr marL="3155950">
              <a:lnSpc>
                <a:spcPct val="100000"/>
              </a:lnSpc>
              <a:spcBef>
                <a:spcPts val="100"/>
              </a:spcBef>
            </a:pPr>
            <a:r>
              <a:rPr sz="3200" spc="-10" dirty="0"/>
              <a:t>INDEX</a:t>
            </a:r>
            <a:endParaRPr sz="3200" dirty="0"/>
          </a:p>
        </p:txBody>
      </p:sp>
      <p:sp>
        <p:nvSpPr>
          <p:cNvPr id="5" name="object 5"/>
          <p:cNvSpPr txBox="1"/>
          <p:nvPr/>
        </p:nvSpPr>
        <p:spPr>
          <a:xfrm>
            <a:off x="975838" y="1606769"/>
            <a:ext cx="6922770" cy="4950714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25"/>
              </a:spcBef>
              <a:buFont typeface="Wingdings" panose="05000000000000000000" pitchFamily="2" charset="2"/>
              <a:buChar char="Ø"/>
              <a:tabLst>
                <a:tab pos="309245" algn="l"/>
              </a:tabLst>
            </a:pPr>
            <a:r>
              <a:rPr sz="2400" b="1" spc="-10" dirty="0">
                <a:latin typeface="Times New Roman"/>
                <a:cs typeface="Times New Roman"/>
              </a:rPr>
              <a:t>ABSTRACT</a:t>
            </a:r>
            <a:endParaRPr lang="en-US" sz="240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725"/>
              </a:spcBef>
              <a:buFont typeface="Wingdings" panose="05000000000000000000" pitchFamily="2" charset="2"/>
              <a:buChar char="Ø"/>
              <a:tabLst>
                <a:tab pos="309245" algn="l"/>
              </a:tabLst>
            </a:pPr>
            <a:r>
              <a:rPr sz="2400" b="1" spc="-10" dirty="0">
                <a:latin typeface="Times New Roman"/>
                <a:cs typeface="Times New Roman"/>
              </a:rPr>
              <a:t>INTRODUCTION</a:t>
            </a:r>
            <a:endParaRPr lang="en-US" sz="2400" spc="-1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725"/>
              </a:spcBef>
              <a:buFont typeface="Wingdings" panose="05000000000000000000" pitchFamily="2" charset="2"/>
              <a:buChar char="Ø"/>
              <a:tabLst>
                <a:tab pos="309245" algn="l"/>
              </a:tabLst>
            </a:pPr>
            <a:r>
              <a:rPr sz="2400" b="1" dirty="0">
                <a:latin typeface="Times New Roman"/>
                <a:cs typeface="Times New Roman"/>
              </a:rPr>
              <a:t>PROBLEM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spc="-55" dirty="0">
                <a:latin typeface="Times New Roman"/>
                <a:cs typeface="Times New Roman"/>
              </a:rPr>
              <a:t>STATEMENT</a:t>
            </a:r>
            <a:r>
              <a:rPr sz="2400" b="1" spc="-18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AND</a:t>
            </a:r>
            <a:r>
              <a:rPr sz="2400" b="1" spc="-10" dirty="0">
                <a:latin typeface="Times New Roman"/>
                <a:cs typeface="Times New Roman"/>
              </a:rPr>
              <a:t> OBJECTIVES</a:t>
            </a:r>
            <a:endParaRPr sz="240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625"/>
              </a:spcBef>
              <a:buFont typeface="Wingdings" panose="05000000000000000000" pitchFamily="2" charset="2"/>
              <a:buChar char="Ø"/>
              <a:tabLst>
                <a:tab pos="309245" algn="l"/>
              </a:tabLst>
            </a:pPr>
            <a:r>
              <a:rPr sz="2400" b="1" spc="-10" dirty="0">
                <a:latin typeface="Times New Roman"/>
                <a:cs typeface="Times New Roman"/>
              </a:rPr>
              <a:t>EXISTING</a:t>
            </a:r>
            <a:r>
              <a:rPr sz="2400" b="1" spc="-75" dirty="0">
                <a:latin typeface="Times New Roman"/>
                <a:cs typeface="Times New Roman"/>
              </a:rPr>
              <a:t> </a:t>
            </a:r>
            <a:r>
              <a:rPr sz="2400" b="1" spc="-25" dirty="0">
                <a:latin typeface="Times New Roman"/>
                <a:cs typeface="Times New Roman"/>
              </a:rPr>
              <a:t>SYSTEM</a:t>
            </a:r>
            <a:r>
              <a:rPr sz="2400" b="1" spc="-1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AND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PROPOSED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SYSTEM</a:t>
            </a:r>
            <a:endParaRPr lang="en-US" sz="240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625"/>
              </a:spcBef>
              <a:buFont typeface="Wingdings" panose="05000000000000000000" pitchFamily="2" charset="2"/>
              <a:buChar char="Ø"/>
              <a:tabLst>
                <a:tab pos="309245" algn="l"/>
              </a:tabLst>
            </a:pPr>
            <a:r>
              <a:rPr sz="2400" b="1" spc="-10" dirty="0">
                <a:latin typeface="Times New Roman"/>
                <a:cs typeface="Times New Roman"/>
              </a:rPr>
              <a:t>METHODOLOGY</a:t>
            </a:r>
            <a:endParaRPr lang="en-US" sz="240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625"/>
              </a:spcBef>
              <a:buFont typeface="Wingdings" panose="05000000000000000000" pitchFamily="2" charset="2"/>
              <a:buChar char="Ø"/>
              <a:tabLst>
                <a:tab pos="309245" algn="l"/>
              </a:tabLst>
            </a:pPr>
            <a:r>
              <a:rPr sz="2400" b="1" spc="-10" dirty="0">
                <a:latin typeface="Times New Roman"/>
                <a:cs typeface="Times New Roman"/>
              </a:rPr>
              <a:t>MODULES</a:t>
            </a:r>
            <a:endParaRPr lang="en-US" sz="240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625"/>
              </a:spcBef>
              <a:buFont typeface="Wingdings" panose="05000000000000000000" pitchFamily="2" charset="2"/>
              <a:buChar char="Ø"/>
              <a:tabLst>
                <a:tab pos="309245" algn="l"/>
              </a:tabLst>
            </a:pPr>
            <a:r>
              <a:rPr sz="2400" b="1" spc="-10" dirty="0">
                <a:latin typeface="Times New Roman"/>
                <a:cs typeface="Times New Roman"/>
              </a:rPr>
              <a:t>RESULTS</a:t>
            </a:r>
            <a:endParaRPr lang="en-US" sz="2400" b="1" spc="-1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625"/>
              </a:spcBef>
              <a:buFont typeface="Wingdings" panose="05000000000000000000" pitchFamily="2" charset="2"/>
              <a:buChar char="Ø"/>
              <a:tabLst>
                <a:tab pos="309245" algn="l"/>
              </a:tabLst>
            </a:pPr>
            <a:r>
              <a:rPr lang="en-US" sz="2400" b="1" spc="-10" dirty="0">
                <a:latin typeface="Times New Roman"/>
                <a:cs typeface="Times New Roman"/>
              </a:rPr>
              <a:t>IEEE STANDARDS</a:t>
            </a:r>
            <a:endParaRPr lang="en-US" sz="2400" spc="-1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625"/>
              </a:spcBef>
              <a:buFont typeface="Wingdings" panose="05000000000000000000" pitchFamily="2" charset="2"/>
              <a:buChar char="Ø"/>
              <a:tabLst>
                <a:tab pos="309245" algn="l"/>
              </a:tabLst>
            </a:pPr>
            <a:r>
              <a:rPr sz="2400" b="1" dirty="0">
                <a:latin typeface="Times New Roman"/>
                <a:cs typeface="Times New Roman"/>
              </a:rPr>
              <a:t>SDG</a:t>
            </a:r>
            <a:r>
              <a:rPr sz="2400" b="1" spc="-6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CONTRIBUTION</a:t>
            </a:r>
            <a:endParaRPr lang="en-US" sz="240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625"/>
              </a:spcBef>
              <a:buFont typeface="Wingdings" panose="05000000000000000000" pitchFamily="2" charset="2"/>
              <a:buChar char="Ø"/>
              <a:tabLst>
                <a:tab pos="309245" algn="l"/>
              </a:tabLst>
            </a:pPr>
            <a:r>
              <a:rPr sz="2400" b="1" spc="-10" dirty="0">
                <a:latin typeface="Times New Roman"/>
                <a:cs typeface="Times New Roman"/>
              </a:rPr>
              <a:t>CONCLUSION</a:t>
            </a:r>
            <a:endParaRPr lang="en-US" sz="240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625"/>
              </a:spcBef>
              <a:buFont typeface="Wingdings" panose="05000000000000000000" pitchFamily="2" charset="2"/>
              <a:buChar char="Ø"/>
              <a:tabLst>
                <a:tab pos="309245" algn="l"/>
              </a:tabLst>
            </a:pPr>
            <a:r>
              <a:rPr sz="2400" b="1" spc="-10" dirty="0">
                <a:latin typeface="Times New Roman"/>
                <a:cs typeface="Times New Roman"/>
              </a:rPr>
              <a:t>REFERENCES</a:t>
            </a:r>
            <a:endParaRPr sz="24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26"/>
            <a:ext cx="974142" cy="123462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62157" y="83363"/>
            <a:ext cx="1520113" cy="1342883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789312" y="1439453"/>
            <a:ext cx="10945487" cy="45741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0" dirty="0"/>
              <a:t> An </a:t>
            </a:r>
            <a:r>
              <a:rPr lang="en-US" sz="2000" dirty="0"/>
              <a:t>Intelligent Robot Path Planning Using Reinforcement Learning – Warehouse Delivery Bot</a:t>
            </a:r>
            <a:r>
              <a:rPr lang="en-US" sz="2000" b="0" dirty="0"/>
              <a:t> is a fully software simulation of a warehouse delivery robot that learns to navigate to a goal while avoiding obstacles using deep RL (PPO) in Webots.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0" dirty="0"/>
              <a:t>The robot uses GPS and distance sensors to sense its position and nearby obstacles, learning a policy that maps sensor readings to motion commands.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Purpose of the Project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0" dirty="0"/>
              <a:t>The project demonstrates that a learning-based controller can autonomously navigate a robot in a simulated warehouse, serving as a proof-of-concept for real autonomous delivery robots.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0" dirty="0"/>
              <a:t> It replaces hand-tuned navigation rules with an adaptive policy that generalizes to new obstacle layouts and start positions.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0" dirty="0"/>
              <a:t> It highlights PPO’s value for continuous robot control in warehouse logistics automation.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04043" rIns="0" bIns="0" rtlCol="0">
            <a:spAutoFit/>
          </a:bodyPr>
          <a:lstStyle/>
          <a:p>
            <a:pPr marL="2515870">
              <a:lnSpc>
                <a:spcPct val="100000"/>
              </a:lnSpc>
              <a:spcBef>
                <a:spcPts val="100"/>
              </a:spcBef>
            </a:pPr>
            <a:r>
              <a:rPr sz="3200" spc="-10" dirty="0"/>
              <a:t>ABSTRACT</a:t>
            </a:r>
            <a:endParaRPr sz="3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26"/>
            <a:ext cx="974142" cy="123462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62157" y="83363"/>
            <a:ext cx="1520113" cy="1342883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019622" y="95849"/>
            <a:ext cx="7432675" cy="898709"/>
          </a:xfrm>
          <a:prstGeom prst="rect">
            <a:avLst/>
          </a:prstGeom>
        </p:spPr>
        <p:txBody>
          <a:bodyPr vert="horz" wrap="square" lIns="0" tIns="402337" rIns="0" bIns="0" rtlCol="0">
            <a:spAutoFit/>
          </a:bodyPr>
          <a:lstStyle/>
          <a:p>
            <a:pPr marL="1860550">
              <a:lnSpc>
                <a:spcPct val="100000"/>
              </a:lnSpc>
              <a:spcBef>
                <a:spcPts val="100"/>
              </a:spcBef>
            </a:pPr>
            <a:r>
              <a:rPr sz="3200" spc="-10" dirty="0"/>
              <a:t>INTRODUCTION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57200" y="1687160"/>
            <a:ext cx="12115800" cy="503580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 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 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Intelligent Robot Path Planning project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uses deep reinforcement learning to train a simulated warehouse robot to navigate autonomously in Webots.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processes GPS position data and distance sensor readings to output linear and angular velocity commands that move the robot toward its goal.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Importances :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This project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enables autonomous, learning-based navigation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avoids collisions with static and dynamic obstacles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adapts to new warehouse layouts without reprogramming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removes the need for hand-tuned path-planning rules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shows that a PPO-trained policy can generalize to unseen start and goal positions.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offers a scalable, software-only proof-of-concept for real autonomous delivery robots in warehouses.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14231" y="191626"/>
            <a:ext cx="1520113" cy="134288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7352" y="191626"/>
            <a:ext cx="1135116" cy="1342883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600200" y="457200"/>
            <a:ext cx="91440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12645" marR="5080" indent="-2100580">
              <a:lnSpc>
                <a:spcPct val="100000"/>
              </a:lnSpc>
              <a:spcBef>
                <a:spcPts val="100"/>
              </a:spcBef>
            </a:pPr>
            <a:r>
              <a:rPr sz="3200" dirty="0"/>
              <a:t>PROBLEM </a:t>
            </a:r>
            <a:r>
              <a:rPr sz="3200" spc="-70" dirty="0"/>
              <a:t>STATEMENTS</a:t>
            </a:r>
            <a:r>
              <a:rPr sz="3200" spc="-220" dirty="0"/>
              <a:t> </a:t>
            </a:r>
            <a:r>
              <a:rPr sz="3200" spc="-25" dirty="0"/>
              <a:t>AND </a:t>
            </a:r>
            <a:r>
              <a:rPr sz="3200" spc="-10" dirty="0"/>
              <a:t>OBJECTIVES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85801" y="1861063"/>
            <a:ext cx="11348544" cy="503580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Statement: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Warehouse robots must navigate between shelves while avoiding static and dynamic obstacles.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Classical navigation relies on pre-defined maps and hand-tuned avoidance rules.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Traditional approaches struggle with unpredictable changes such as new obstacles or blocked aisles.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Objectives: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State Observation &amp; Sensing Module: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fuse GPS position data and distance sensor readings into a usable state representation.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compute distance and direction to the goal accurately in real time.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RL Control &amp; Automation Module: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train a PPO policy that maps sensor states to motion commands.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enable the robot to reach delivery points reliably while avoiding collisions.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1" y="191625"/>
            <a:ext cx="628068" cy="75828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159231" y="191626"/>
            <a:ext cx="875113" cy="75828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567769" y="308007"/>
            <a:ext cx="905319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/>
              <a:t>EXISTING</a:t>
            </a:r>
            <a:r>
              <a:rPr sz="3200" spc="-140" dirty="0"/>
              <a:t> </a:t>
            </a:r>
            <a:r>
              <a:rPr sz="3200" spc="-30" dirty="0"/>
              <a:t>SYSTEM</a:t>
            </a:r>
            <a:r>
              <a:rPr sz="3200" spc="-180" dirty="0"/>
              <a:t> </a:t>
            </a:r>
            <a:r>
              <a:rPr sz="3200" dirty="0"/>
              <a:t>AND</a:t>
            </a:r>
            <a:r>
              <a:rPr sz="3200" spc="-80" dirty="0"/>
              <a:t> </a:t>
            </a:r>
            <a:r>
              <a:rPr sz="3200" dirty="0"/>
              <a:t>PROPOSED</a:t>
            </a:r>
            <a:r>
              <a:rPr sz="3200" spc="-80" dirty="0"/>
              <a:t> </a:t>
            </a:r>
            <a:r>
              <a:rPr sz="3200" spc="-10" dirty="0"/>
              <a:t>SYSTEMS</a:t>
            </a:r>
            <a:endParaRPr sz="3200" dirty="0"/>
          </a:p>
        </p:txBody>
      </p:sp>
      <p:sp>
        <p:nvSpPr>
          <p:cNvPr id="5" name="object 5"/>
          <p:cNvSpPr txBox="1"/>
          <p:nvPr/>
        </p:nvSpPr>
        <p:spPr>
          <a:xfrm>
            <a:off x="533399" y="1263567"/>
            <a:ext cx="10625831" cy="59591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System: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Robots rely on pre-defined maps and fixed paths set by engineers.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No adaptive control over navigation when the environment changes.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Path planning depends completely on manual rule design and tuning.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Frequent collisions or stalls occur in dynamic or altered layouts.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No learning from experience to improve navigation over time.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System: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Uses PPO reinforcement learning to manage navigation automatically.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Learned policy controls linear and angular velocity from sensor states.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GPS and distance sensors help monitor position and obstacles continuously.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Motion commands are issued only based on the current learned policy.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Ensures adaptive, collision-free navigation to the goal.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3" y="201354"/>
            <a:ext cx="761233" cy="95400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31" y="191626"/>
            <a:ext cx="1159904" cy="96373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3283" rIns="0" bIns="0" rtlCol="0">
            <a:spAutoFit/>
          </a:bodyPr>
          <a:lstStyle/>
          <a:p>
            <a:pPr marL="136842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METHODOLOGY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272352" y="1471062"/>
            <a:ext cx="15227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1800" dirty="0">
              <a:latin typeface="Calibri"/>
              <a:cs typeface="Calibri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4461419-239A-85BE-EEDE-3FC879CFA36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600" y="1783072"/>
            <a:ext cx="6677957" cy="343900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946E3A7-8D01-0E68-B7AA-B8E71F3E0046}"/>
              </a:ext>
            </a:extLst>
          </p:cNvPr>
          <p:cNvSpPr txBox="1"/>
          <p:nvPr/>
        </p:nvSpPr>
        <p:spPr>
          <a:xfrm>
            <a:off x="1118586" y="838200"/>
            <a:ext cx="97780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ARCHITECTURE DIAGRAM</a:t>
            </a:r>
            <a:endParaRPr lang="en-IN" b="1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3C95734-42E5-D1BD-9D6E-C46D7A3F3E3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353" y="1477182"/>
            <a:ext cx="4046712" cy="520124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FFEFFAEC-7B51-AB07-19D8-6BB3ABBC9A65}"/>
              </a:ext>
            </a:extLst>
          </p:cNvPr>
          <p:cNvSpPr txBox="1"/>
          <p:nvPr/>
        </p:nvSpPr>
        <p:spPr>
          <a:xfrm>
            <a:off x="6705600" y="1207532"/>
            <a:ext cx="304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TRAINING WORKFLOW DIAGRAM</a:t>
            </a:r>
            <a:endParaRPr lang="en-IN" b="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84B99C9-275D-0CB3-6168-AC0790C249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7B359F89-7030-4B39-0088-147FC4733F6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3" y="201354"/>
            <a:ext cx="761233" cy="954002"/>
          </a:xfrm>
          <a:prstGeom prst="rect">
            <a:avLst/>
          </a:prstGeom>
        </p:spPr>
      </p:pic>
      <p:pic>
        <p:nvPicPr>
          <p:cNvPr id="3" name="object 3">
            <a:extLst>
              <a:ext uri="{FF2B5EF4-FFF2-40B4-BE49-F238E27FC236}">
                <a16:creationId xmlns:a16="http://schemas.microsoft.com/office/drawing/2014/main" id="{AC43B402-7CE7-9388-4F22-33F9969BAC41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31" y="191626"/>
            <a:ext cx="1159904" cy="963730"/>
          </a:xfrm>
          <a:prstGeom prst="rect">
            <a:avLst/>
          </a:prstGeom>
        </p:spPr>
      </p:pic>
      <p:sp>
        <p:nvSpPr>
          <p:cNvPr id="4" name="object 4">
            <a:extLst>
              <a:ext uri="{FF2B5EF4-FFF2-40B4-BE49-F238E27FC236}">
                <a16:creationId xmlns:a16="http://schemas.microsoft.com/office/drawing/2014/main" id="{60A3BDC5-BC00-4F43-E190-971CC9A5DEB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05200" y="508112"/>
            <a:ext cx="7432675" cy="740040"/>
          </a:xfrm>
          <a:prstGeom prst="rect">
            <a:avLst/>
          </a:prstGeom>
        </p:spPr>
        <p:txBody>
          <a:bodyPr vert="horz" wrap="square" lIns="0" tIns="123283" rIns="0" bIns="0" rtlCol="0">
            <a:spAutoFit/>
          </a:bodyPr>
          <a:lstStyle/>
          <a:p>
            <a:pPr marL="1368425">
              <a:lnSpc>
                <a:spcPct val="100000"/>
              </a:lnSpc>
              <a:spcBef>
                <a:spcPts val="100"/>
              </a:spcBef>
            </a:pPr>
            <a:r>
              <a:rPr lang="en-IN" spc="-10" dirty="0"/>
              <a:t>Datasets</a:t>
            </a:r>
            <a:endParaRPr spc="-10" dirty="0"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F044EDAB-B637-A09E-4E9E-2652406BCAF2}"/>
              </a:ext>
            </a:extLst>
          </p:cNvPr>
          <p:cNvSpPr txBox="1"/>
          <p:nvPr/>
        </p:nvSpPr>
        <p:spPr>
          <a:xfrm>
            <a:off x="6272352" y="1471062"/>
            <a:ext cx="15227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1800" dirty="0">
              <a:latin typeface="Calibri"/>
              <a:cs typeface="Calibri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201B996-3014-1777-828F-E6DC0C3C75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123" y="1828800"/>
            <a:ext cx="10363753" cy="4084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98658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05027" rIns="0" bIns="0" rtlCol="0">
            <a:spAutoFit/>
          </a:bodyPr>
          <a:lstStyle/>
          <a:p>
            <a:pPr marL="2481580">
              <a:lnSpc>
                <a:spcPct val="100000"/>
              </a:lnSpc>
              <a:spcBef>
                <a:spcPts val="100"/>
              </a:spcBef>
            </a:pPr>
            <a:r>
              <a:rPr sz="2800" spc="-40" dirty="0"/>
              <a:t>TOOLS</a:t>
            </a:r>
            <a:r>
              <a:rPr sz="2800" spc="-110" dirty="0"/>
              <a:t> </a:t>
            </a:r>
            <a:r>
              <a:rPr sz="2800" spc="-20" dirty="0"/>
              <a:t>USED</a:t>
            </a:r>
            <a:endParaRPr sz="28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26"/>
            <a:ext cx="1135116" cy="134288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31" y="191626"/>
            <a:ext cx="1520113" cy="134288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19668" y="1994160"/>
            <a:ext cx="1710438" cy="1421564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356638" y="1407341"/>
            <a:ext cx="3009899" cy="1514474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61077" y="4947041"/>
            <a:ext cx="1409922" cy="1270784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526382" y="3489385"/>
            <a:ext cx="152400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sz="1800" b="1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Webots</a:t>
            </a:r>
            <a:r>
              <a:rPr sz="1800" b="1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Simulator</a:t>
            </a:r>
            <a:endParaRPr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object 19"/>
          <p:cNvSpPr txBox="1"/>
          <p:nvPr/>
        </p:nvSpPr>
        <p:spPr>
          <a:xfrm flipH="1">
            <a:off x="6356638" y="3166463"/>
            <a:ext cx="2253962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8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sz="18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8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(PyTorch)</a:t>
            </a:r>
            <a:endParaRPr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61077" y="6260175"/>
            <a:ext cx="9584054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.PPO</a:t>
            </a:r>
            <a:r>
              <a:rPr sz="1800" b="1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  <a:endParaRPr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A280907-ACBF-2D89-F76A-2A035134132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66548" y="1789016"/>
            <a:ext cx="2179243" cy="137744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79DA66B-AF73-C9A7-FFB5-1047DAF216AC}"/>
              </a:ext>
            </a:extLst>
          </p:cNvPr>
          <p:cNvSpPr txBox="1"/>
          <p:nvPr/>
        </p:nvSpPr>
        <p:spPr>
          <a:xfrm>
            <a:off x="3566549" y="3335938"/>
            <a:ext cx="47392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2.GPS Sensor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6" name="Picture 8" descr="Stainless Steel Jumbo Dog Bowl ...">
            <a:extLst>
              <a:ext uri="{FF2B5EF4-FFF2-40B4-BE49-F238E27FC236}">
                <a16:creationId xmlns:a16="http://schemas.microsoft.com/office/drawing/2014/main" id="{FEA53AF1-5899-8AD1-29A6-17F6D47956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2666" y="4801629"/>
            <a:ext cx="2143125" cy="1561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CDB75753-375C-125A-5456-650313AC55DE}"/>
              </a:ext>
            </a:extLst>
          </p:cNvPr>
          <p:cNvSpPr txBox="1"/>
          <p:nvPr/>
        </p:nvSpPr>
        <p:spPr>
          <a:xfrm>
            <a:off x="3566548" y="6405586"/>
            <a:ext cx="60023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5. Distance Sensors</a:t>
            </a:r>
            <a:endParaRPr lang="en-IN" b="1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DA76655-DB3F-F4F5-44C1-274E2B3F4E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0" y="4152900"/>
            <a:ext cx="2076450" cy="1714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C4AEE58-5EB9-68E8-4FB0-8E16158DB3F7}"/>
              </a:ext>
            </a:extLst>
          </p:cNvPr>
          <p:cNvSpPr txBox="1"/>
          <p:nvPr/>
        </p:nvSpPr>
        <p:spPr>
          <a:xfrm>
            <a:off x="7924800" y="5867400"/>
            <a:ext cx="24203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6.Pioneer 3-DX Robot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26"/>
            <a:ext cx="974142" cy="123462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62157" y="83363"/>
            <a:ext cx="1520113" cy="1342883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209799" y="381000"/>
            <a:ext cx="8305801" cy="9977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23594" marR="5080" indent="-811530">
              <a:spcBef>
                <a:spcPts val="100"/>
              </a:spcBef>
            </a:pPr>
            <a:r>
              <a:rPr sz="3200" dirty="0"/>
              <a:t>Module</a:t>
            </a:r>
            <a:r>
              <a:rPr sz="3200" spc="-114" dirty="0"/>
              <a:t> </a:t>
            </a:r>
            <a:r>
              <a:rPr sz="3200" spc="-20" dirty="0"/>
              <a:t>-</a:t>
            </a:r>
            <a:r>
              <a:rPr sz="3200" dirty="0"/>
              <a:t>1:</a:t>
            </a:r>
            <a:r>
              <a:rPr lang="en-IN" sz="3200" dirty="0"/>
              <a:t> State &amp; Observation Processing</a:t>
            </a:r>
            <a:br>
              <a:rPr lang="en-IN" sz="3200" dirty="0"/>
            </a:br>
            <a:endParaRPr sz="3200" spc="-10" dirty="0"/>
          </a:p>
        </p:txBody>
      </p:sp>
      <p:sp>
        <p:nvSpPr>
          <p:cNvPr id="5" name="object 5"/>
          <p:cNvSpPr txBox="1"/>
          <p:nvPr/>
        </p:nvSpPr>
        <p:spPr>
          <a:xfrm>
            <a:off x="457200" y="1752600"/>
            <a:ext cx="11430000" cy="551029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module fuses GPS position data and distance sensor readings into the state vector used by the RL agent.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computes the robot’s distance to goal, angle to goal, and obstacle proximity in every direction.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raw sensor data is normalized to keep all observation values within a consistent range.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Ensures the policy network receives a clean, informative state at every timestep.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 adapt to new obstacle layouts without any manual recalibration.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Helps the agent make accurate navigation decisions under uncertainty.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Functions: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Fuses GPS and distance sensor data.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Computes distance and angle to goal.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Normalizes all observation values.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Sends the state vector to the PPO policy module.</a:t>
            </a:r>
          </a:p>
          <a:p>
            <a:pPr marL="298450" marR="125730" indent="-247650" algn="l">
              <a:lnSpc>
                <a:spcPct val="150000"/>
              </a:lnSpc>
              <a:spcBef>
                <a:spcPts val="100"/>
              </a:spcBef>
              <a:buFont typeface="Arial MT"/>
              <a:buChar char="•"/>
              <a:tabLst>
                <a:tab pos="298450" algn="l"/>
              </a:tabLst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26"/>
            <a:ext cx="1135116" cy="134288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31" y="191626"/>
            <a:ext cx="1520113" cy="1342883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492468" y="457200"/>
            <a:ext cx="9021763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" algn="ctr">
              <a:spcBef>
                <a:spcPts val="100"/>
              </a:spcBef>
            </a:pPr>
            <a:r>
              <a:rPr sz="3200" dirty="0"/>
              <a:t>MODULE</a:t>
            </a:r>
            <a:r>
              <a:rPr sz="3200" spc="-30" dirty="0"/>
              <a:t> </a:t>
            </a:r>
            <a:r>
              <a:rPr sz="3200" spc="-50" dirty="0"/>
              <a:t>2</a:t>
            </a:r>
            <a:r>
              <a:rPr lang="en-US" sz="3200" spc="-50" dirty="0"/>
              <a:t>:</a:t>
            </a:r>
            <a:r>
              <a:rPr lang="en-IN" sz="3200" dirty="0"/>
              <a:t> PPO Policy (Actor-Critic) Module</a:t>
            </a:r>
            <a:endParaRPr sz="3200" spc="-50" dirty="0"/>
          </a:p>
        </p:txBody>
      </p:sp>
      <p:sp>
        <p:nvSpPr>
          <p:cNvPr id="5" name="object 5"/>
          <p:cNvSpPr txBox="1"/>
          <p:nvPr/>
        </p:nvSpPr>
        <p:spPr>
          <a:xfrm>
            <a:off x="1093066" y="1968730"/>
            <a:ext cx="10641734" cy="46639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 marR="457834" algn="l">
              <a:lnSpc>
                <a:spcPct val="150000"/>
              </a:lnSpc>
              <a:spcBef>
                <a:spcPts val="100"/>
              </a:spcBef>
              <a:tabLst>
                <a:tab pos="355600" algn="l"/>
              </a:tabLs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module trains and runs the PPO actor-critic network that outputs motion commands.</a:t>
            </a:r>
          </a:p>
          <a:p>
            <a:pPr marL="393700" marR="457834" indent="-342900" algn="l">
              <a:lnSpc>
                <a:spcPct val="150000"/>
              </a:lnSpc>
              <a:spcBef>
                <a:spcPts val="100"/>
              </a:spcBef>
              <a:buFont typeface="Wingdings" panose="05000000000000000000" pitchFamily="2" charset="2"/>
              <a:buChar char="Ø"/>
              <a:tabLst>
                <a:tab pos="355600" algn="l"/>
              </a:tabLs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selects linear and angular velocity actions from the current state.</a:t>
            </a:r>
          </a:p>
          <a:p>
            <a:pPr marL="393700" marR="457834" indent="-342900" algn="l">
              <a:lnSpc>
                <a:spcPct val="150000"/>
              </a:lnSpc>
              <a:spcBef>
                <a:spcPts val="100"/>
              </a:spcBef>
              <a:buFont typeface="Wingdings" panose="05000000000000000000" pitchFamily="2" charset="2"/>
              <a:buChar char="Ø"/>
              <a:tabLst>
                <a:tab pos="355600" algn="l"/>
              </a:tabLs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 clipped policy updates to keep training stable across episodes.</a:t>
            </a:r>
          </a:p>
          <a:p>
            <a:pPr marL="393700" marR="457834" indent="-342900" algn="l">
              <a:lnSpc>
                <a:spcPct val="150000"/>
              </a:lnSpc>
              <a:spcBef>
                <a:spcPts val="100"/>
              </a:spcBef>
              <a:buFont typeface="Wingdings" panose="05000000000000000000" pitchFamily="2" charset="2"/>
              <a:buChar char="Ø"/>
              <a:tabLst>
                <a:tab pos="355600" algn="l"/>
              </a:tabLs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Works in coordination with the State Observation Module to continuously refine navigation decisions.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Functions:</a:t>
            </a:r>
          </a:p>
          <a:p>
            <a:pPr marL="393700" marR="457834" indent="-342900" algn="l">
              <a:lnSpc>
                <a:spcPct val="150000"/>
              </a:lnSpc>
              <a:spcBef>
                <a:spcPts val="100"/>
              </a:spcBef>
              <a:buFont typeface="Wingdings" panose="05000000000000000000" pitchFamily="2" charset="2"/>
              <a:buChar char="Ø"/>
              <a:tabLst>
                <a:tab pos="355600" algn="l"/>
              </a:tabLs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Runs actor and critic networks.</a:t>
            </a:r>
          </a:p>
          <a:p>
            <a:pPr marL="393700" marR="457834" indent="-342900" algn="l">
              <a:lnSpc>
                <a:spcPct val="150000"/>
              </a:lnSpc>
              <a:spcBef>
                <a:spcPts val="100"/>
              </a:spcBef>
              <a:buFont typeface="Wingdings" panose="05000000000000000000" pitchFamily="2" charset="2"/>
              <a:buChar char="Ø"/>
              <a:tabLst>
                <a:tab pos="355600" algn="l"/>
              </a:tabLs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Selects velocity actions from the state.</a:t>
            </a:r>
          </a:p>
          <a:p>
            <a:pPr marL="393700" marR="457834" indent="-342900" algn="l">
              <a:lnSpc>
                <a:spcPct val="150000"/>
              </a:lnSpc>
              <a:spcBef>
                <a:spcPts val="100"/>
              </a:spcBef>
              <a:buFont typeface="Wingdings" panose="05000000000000000000" pitchFamily="2" charset="2"/>
              <a:buChar char="Ø"/>
              <a:tabLst>
                <a:tab pos="355600" algn="l"/>
              </a:tabLs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Applies PPO clipped surrogate updates.</a:t>
            </a:r>
          </a:p>
          <a:p>
            <a:pPr marL="393700" marR="457834" indent="-342900" algn="l">
              <a:lnSpc>
                <a:spcPct val="150000"/>
              </a:lnSpc>
              <a:spcBef>
                <a:spcPts val="100"/>
              </a:spcBef>
              <a:buFont typeface="Wingdings" panose="05000000000000000000" pitchFamily="2" charset="2"/>
              <a:buChar char="Ø"/>
              <a:tabLst>
                <a:tab pos="355600" algn="l"/>
              </a:tabLs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Maintains a log of training episodes and rewards.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5E86A5A1-B52F-8F1D-C67C-B5EEFA8315A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26"/>
            <a:ext cx="1135116" cy="1342883"/>
          </a:xfrm>
          <a:prstGeom prst="rect">
            <a:avLst/>
          </a:prstGeom>
        </p:spPr>
      </p:pic>
      <p:pic>
        <p:nvPicPr>
          <p:cNvPr id="3" name="object 3">
            <a:extLst>
              <a:ext uri="{FF2B5EF4-FFF2-40B4-BE49-F238E27FC236}">
                <a16:creationId xmlns:a16="http://schemas.microsoft.com/office/drawing/2014/main" id="{4FD32811-E5F7-CF1A-51CD-ABFBBE996AD9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31" y="191626"/>
            <a:ext cx="1520113" cy="134288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0E2CE3E-64E3-9A93-3C99-6C64EA2EB3A4}"/>
              </a:ext>
            </a:extLst>
          </p:cNvPr>
          <p:cNvSpPr txBox="1"/>
          <p:nvPr/>
        </p:nvSpPr>
        <p:spPr>
          <a:xfrm>
            <a:off x="2286000" y="457200"/>
            <a:ext cx="917553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en-IN" sz="32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b="1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-3:</a:t>
            </a:r>
            <a:r>
              <a:rPr lang="en-IN" sz="32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Reward &amp; Environment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8EACE9-30C4-45B6-5D76-95B1BEEBBD84}"/>
              </a:ext>
            </a:extLst>
          </p:cNvPr>
          <p:cNvSpPr txBox="1"/>
          <p:nvPr/>
        </p:nvSpPr>
        <p:spPr>
          <a:xfrm>
            <a:off x="357352" y="2138797"/>
            <a:ext cx="11453648" cy="6038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Reward &amp; Environment Module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module is responsible for computing the reward signal and stepping the Webots simulation.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Executes the chosen linear and angular velocity commands on the robot each timestep.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 accurate reward shaping based on goal progress, collisions, and time penalties.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Applies proximity and collision penalties to encourage safe navigation.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handle episode termination on goal reach, collision, or timeout.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Functions: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Computes step-wise goal-progress reward.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Applies collision and proximity penalties.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Ends the episode and resets the environment.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583615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90C273EC-913D-8337-E3B8-344A50CE868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26"/>
            <a:ext cx="1135116" cy="1342883"/>
          </a:xfrm>
          <a:prstGeom prst="rect">
            <a:avLst/>
          </a:prstGeom>
        </p:spPr>
      </p:pic>
      <p:pic>
        <p:nvPicPr>
          <p:cNvPr id="3" name="object 3">
            <a:extLst>
              <a:ext uri="{FF2B5EF4-FFF2-40B4-BE49-F238E27FC236}">
                <a16:creationId xmlns:a16="http://schemas.microsoft.com/office/drawing/2014/main" id="{75CCC69E-83EA-8B4C-CE95-E64509AC1863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31" y="191626"/>
            <a:ext cx="1520113" cy="134288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795DE39-38D8-43B4-8985-54E124641388}"/>
              </a:ext>
            </a:extLst>
          </p:cNvPr>
          <p:cNvSpPr txBox="1"/>
          <p:nvPr/>
        </p:nvSpPr>
        <p:spPr>
          <a:xfrm>
            <a:off x="1258741" y="381000"/>
            <a:ext cx="9489218" cy="1608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lang="en-IN" sz="32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b="1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MODULE-4: Training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Monitoring</a:t>
            </a:r>
          </a:p>
          <a:p>
            <a:pPr algn="l">
              <a:spcAft>
                <a:spcPts val="300"/>
              </a:spcAft>
              <a:buNone/>
            </a:pPr>
            <a:endParaRPr lang="en-IN" sz="3200" b="1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07043B4-163E-4B7D-5E75-13EDBBBEC8D5}"/>
              </a:ext>
            </a:extLst>
          </p:cNvPr>
          <p:cNvSpPr txBox="1"/>
          <p:nvPr/>
        </p:nvSpPr>
        <p:spPr>
          <a:xfrm>
            <a:off x="762000" y="1686910"/>
            <a:ext cx="10439399" cy="5576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Tracks episode reward and success rate throughout training.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Allows visual inspection of the robot moving in the Webots 3D environment.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Stores training metrics and logs for later review and analysis.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Enables remote monitoring of training progress via plots.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Works with the PPO agent to diagnose and tune reward weights.</a:t>
            </a:r>
          </a:p>
          <a:p>
            <a:pPr algn="l">
              <a:lnSpc>
                <a:spcPct val="150000"/>
              </a:lnSpc>
            </a:pPr>
            <a:r>
              <a:rPr lang="en-US" sz="20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Key Features: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episode reward plotting.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 of robot trajectories.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Success-rate and distance-to-goal tracking.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Alerts for training instability or stagnation.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Integration with PPO for adaptive hyperparameter tuning.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65777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26"/>
            <a:ext cx="1135116" cy="134288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31" y="191626"/>
            <a:ext cx="1520113" cy="1342883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949094" y="196705"/>
            <a:ext cx="229235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50" dirty="0"/>
              <a:t>RESULTS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47000" y="1547717"/>
            <a:ext cx="10254400" cy="54974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The PPO-trained navigation policy was successfully implemented and tested under different warehouse layouts.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robot accurately navigated from varying start positions to the goal zone.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Navigation occurred autonomously in real time without human intervention.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Distance sensor fusion ensured reliable obstacle avoidance, preventing most collisions.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Training logs recorded episode reward and success rate, confirming steady policy improvement.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policy adapted to new obstacle placements, generalizing without retraining.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reward tracking module logged collisions and near-misses, helping detect unstable episodes.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Overall, the system improved navigation reliability and removed the need for hand-coded path planning.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data was recorded and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analysed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for insights into robot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behaviour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performance.</a:t>
            </a:r>
          </a:p>
          <a:p>
            <a:pPr>
              <a:lnSpc>
                <a:spcPct val="150000"/>
              </a:lnSpc>
            </a:pP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26"/>
            <a:ext cx="1135116" cy="134288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31" y="191626"/>
            <a:ext cx="1520113" cy="1342883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019622" y="95849"/>
            <a:ext cx="7432675" cy="938367"/>
          </a:xfrm>
          <a:prstGeom prst="rect">
            <a:avLst/>
          </a:prstGeom>
        </p:spPr>
        <p:txBody>
          <a:bodyPr vert="horz" wrap="square" lIns="0" tIns="319692" rIns="0" bIns="0" rtlCol="0">
            <a:spAutoFit/>
          </a:bodyPr>
          <a:lstStyle/>
          <a:p>
            <a:pPr marL="1472565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IEEE STANDARDS</a:t>
            </a:r>
            <a:endParaRPr spc="-10" dirty="0"/>
          </a:p>
        </p:txBody>
      </p:sp>
      <p:sp>
        <p:nvSpPr>
          <p:cNvPr id="5" name="object 5"/>
          <p:cNvSpPr txBox="1"/>
          <p:nvPr/>
        </p:nvSpPr>
        <p:spPr>
          <a:xfrm>
            <a:off x="457201" y="990600"/>
            <a:ext cx="10711756" cy="493724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50000"/>
              </a:lnSpc>
            </a:pP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b="1" dirty="0"/>
              <a:t>1. Robotics &amp; Automation Standards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	IEEE 1873-2015 – Robot Map Data Representation for Navigation.</a:t>
            </a:r>
          </a:p>
          <a:p>
            <a:pPr>
              <a:lnSpc>
                <a:spcPct val="150000"/>
              </a:lnSpc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/>
              <a:t>2. </a:t>
            </a:r>
            <a:r>
              <a:rPr lang="en-US" sz="2000" b="1" dirty="0" err="1"/>
              <a:t>Autonomous Systems</a:t>
            </a:r>
            <a:r>
              <a:rPr lang="en-US" sz="2000" b="1" dirty="0"/>
              <a:t> Ontology Standards</a:t>
            </a:r>
          </a:p>
          <a:p>
            <a:r>
              <a:rPr lang="en-US" sz="2000" dirty="0"/>
              <a:t>	IEEE 1872-2015 – Standard </a:t>
            </a:r>
            <a:r>
              <a:rPr lang="en-US" sz="2000" dirty="0" err="1"/>
              <a:t>Ontologies for Robotics</a:t>
            </a:r>
            <a:r>
              <a:rPr lang="en-US" sz="2000" dirty="0"/>
              <a:t> and Automation (CORA). </a:t>
            </a:r>
          </a:p>
          <a:p>
            <a:r>
              <a:rPr lang="en-US" sz="2000" dirty="0"/>
              <a:t>	IEEE 1872.2-2021 – Standard for Autonomous Robotics (AuR) Ontology.</a:t>
            </a:r>
          </a:p>
          <a:p>
            <a:endParaRPr lang="en-US" sz="2000" dirty="0"/>
          </a:p>
          <a:p>
            <a:r>
              <a:rPr lang="en-US" sz="2000" b="1" dirty="0"/>
              <a:t>3. Safety Standards</a:t>
            </a:r>
          </a:p>
          <a:p>
            <a:r>
              <a:rPr lang="en-US" sz="2000" dirty="0"/>
              <a:t>	IEEE 7009-2024 – Fail-Safe Design of Autonomous and Semi-Autonomous Systems.</a:t>
            </a:r>
          </a:p>
          <a:p>
            <a:endParaRPr lang="en-US" sz="2000" dirty="0"/>
          </a:p>
          <a:p>
            <a:pPr>
              <a:lnSpc>
                <a:spcPct val="150000"/>
              </a:lnSpc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26"/>
            <a:ext cx="1135116" cy="134288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31" y="191626"/>
            <a:ext cx="1520113" cy="1342883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9692" rIns="0" bIns="0" rtlCol="0">
            <a:spAutoFit/>
          </a:bodyPr>
          <a:lstStyle/>
          <a:p>
            <a:pPr marL="1472565">
              <a:lnSpc>
                <a:spcPct val="100000"/>
              </a:lnSpc>
              <a:spcBef>
                <a:spcPts val="100"/>
              </a:spcBef>
            </a:pPr>
            <a:r>
              <a:rPr dirty="0"/>
              <a:t>SDG</a:t>
            </a:r>
            <a:r>
              <a:rPr spc="-110" dirty="0"/>
              <a:t> </a:t>
            </a:r>
            <a:r>
              <a:rPr spc="-10" dirty="0"/>
              <a:t>CONTRIBUTION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57201" y="990600"/>
            <a:ext cx="10711756" cy="59719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50000"/>
              </a:lnSpc>
            </a:pP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demonstrates safe, adaptive, learning-based navigation for warehouse robots, reducing manual intervention and improving delivery efficiency.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SDG 8 – Decent Work and Economic Growth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automating repetitive warehouse navigation tasks, the system supports safer, more productive logistics workplaces.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SDG 9 – Industry, Innovation, and Infrastructure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RL-based navigation system integrates AI and robotics, fostering innovation in autonomous logistics and smart warehouse infrastructure.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SDG 12 – Responsible Consumption and Production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learned policy minimizes wasted motion and energy by taking efficient, direct paths to delivery points, promoting responsible resource use.</a:t>
            </a:r>
          </a:p>
          <a:p>
            <a:pPr marL="400685" indent="-342900">
              <a:lnSpc>
                <a:spcPct val="150000"/>
              </a:lnSpc>
              <a:spcBef>
                <a:spcPts val="100"/>
              </a:spcBef>
              <a:buFont typeface="Wingdings" panose="05000000000000000000" pitchFamily="2" charset="2"/>
              <a:buChar char="Ø"/>
              <a:tabLst>
                <a:tab pos="354965" algn="l"/>
              </a:tabLst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36689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7352" y="191626"/>
            <a:ext cx="1135116" cy="134288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514231" y="191626"/>
            <a:ext cx="1520113" cy="1342883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1055" rIns="0" bIns="0" rtlCol="0">
            <a:spAutoFit/>
          </a:bodyPr>
          <a:lstStyle/>
          <a:p>
            <a:pPr marL="235458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CONCLUSION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492468" y="2362200"/>
            <a:ext cx="9306238" cy="32019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Demonstrates reliable, autonomous navigation for a simulated warehouse delivery robot.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collisions through learned obstacle avoidance using GPS and distance sensors.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Minimizes travel time and energy through efficient PPO-learned paths.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Demonstrates the use of deep reinforcement learning for adaptive robot control.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Generalizes to new start positions and layouts without retraining.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Combines simulation, AI, and robotics into a scalable proof-of-concept for real-world delivery robots.</a:t>
            </a:r>
          </a:p>
          <a:p>
            <a:pPr marL="431165" marR="216535" indent="-419100">
              <a:lnSpc>
                <a:spcPct val="150000"/>
              </a:lnSpc>
              <a:spcBef>
                <a:spcPts val="100"/>
              </a:spcBef>
              <a:buFont typeface="Wingdings" panose="05000000000000000000" pitchFamily="2" charset="2"/>
              <a:buChar char="Ø"/>
              <a:tabLst>
                <a:tab pos="431165" algn="l"/>
              </a:tabLst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26"/>
            <a:ext cx="1135116" cy="134288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31" y="191626"/>
            <a:ext cx="1520113" cy="1342883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06394" rIns="0" bIns="0" rtlCol="0">
            <a:spAutoFit/>
          </a:bodyPr>
          <a:lstStyle/>
          <a:p>
            <a:pPr marL="246634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REFERENCES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143000" y="1534509"/>
            <a:ext cx="10348344" cy="365080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Schulman, J., Wolski, F., Dhariwal, P., Radford, A., &amp; Klimov, O. (2023).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Proximal Policy Optimization Algorithms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— The original paper introducing the PPO algorithm with a clipped surrogate objective for stable policy updates. 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IBM Think (2024).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Proximal Policy Optimization — overview of PPO’s actor-critic design and use for continuous robot control. 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Amrita Vishwa Vidyapeetham (2023).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Autonomous Navigation of an AMR Using Deep Reinforcement Learning in Warehouse Environment — motivates RL-based navigation for warehouse robots</a:t>
            </a: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. 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26"/>
            <a:ext cx="1135116" cy="134288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31" y="191626"/>
            <a:ext cx="1520113" cy="1342883"/>
          </a:xfrm>
          <a:prstGeom prst="rect">
            <a:avLst/>
          </a:prstGeom>
        </p:spPr>
      </p:pic>
      <p:pic>
        <p:nvPicPr>
          <p:cNvPr id="1028" name="Picture 4" descr="1,535 Thank You Script Stock Photos - Free &amp; Royalty-Free Stock Photos from  Dreamstime">
            <a:extLst>
              <a:ext uri="{FF2B5EF4-FFF2-40B4-BE49-F238E27FC236}">
                <a16:creationId xmlns:a16="http://schemas.microsoft.com/office/drawing/2014/main" id="{6DFC7DFC-8F4D-5098-F029-5A4BF6BE07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1252538"/>
            <a:ext cx="7620000" cy="4352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232</TotalTime>
  <Words>1518</Words>
  <Application>Microsoft Office PowerPoint</Application>
  <PresentationFormat>Widescreen</PresentationFormat>
  <Paragraphs>141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 MT</vt:lpstr>
      <vt:lpstr>Calibri</vt:lpstr>
      <vt:lpstr>Times New Roman</vt:lpstr>
      <vt:lpstr>Wingdings</vt:lpstr>
      <vt:lpstr>Office Theme</vt:lpstr>
      <vt:lpstr>DEPARTMENT OF ARTIFICIAL INTELLIGENCE AND MACHINE LEARNING</vt:lpstr>
      <vt:lpstr>INDEX</vt:lpstr>
      <vt:lpstr>ABSTRACT</vt:lpstr>
      <vt:lpstr>INTRODUCTION</vt:lpstr>
      <vt:lpstr>PROBLEM STATEMENTS AND OBJECTIVES</vt:lpstr>
      <vt:lpstr>EXISTING SYSTEM AND PROPOSED SYSTEMS</vt:lpstr>
      <vt:lpstr>METHODOLOGY</vt:lpstr>
      <vt:lpstr>Datasets</vt:lpstr>
      <vt:lpstr>TOOLS USED</vt:lpstr>
      <vt:lpstr>Module -1: State &amp; Observation Processing </vt:lpstr>
      <vt:lpstr>MODULE 2: PPO Policy (Actor-Critic) Module</vt:lpstr>
      <vt:lpstr>PowerPoint Presentation</vt:lpstr>
      <vt:lpstr>PowerPoint Presentation</vt:lpstr>
      <vt:lpstr>RESULTS</vt:lpstr>
      <vt:lpstr>IEEE STANDARDS</vt:lpstr>
      <vt:lpstr>SDG CONTRIBUTION</vt:lpstr>
      <vt:lpstr>CONCLUSION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Model-Presentation.pptx</dc:title>
  <dc:creator>Anajali's</dc:creator>
  <cp:lastModifiedBy>PRADEEP kumaR</cp:lastModifiedBy>
  <cp:revision>13</cp:revision>
  <dcterms:created xsi:type="dcterms:W3CDTF">2026-02-07T08:58:37Z</dcterms:created>
  <dcterms:modified xsi:type="dcterms:W3CDTF">2026-08-22T03:58:55Z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2026-02-07T00:00:00Z</vt:filetime>
  </property>
  <property fmtid="{D5CDD505-2E9C-101B-9397-08002B2CF9AE}" pid="3" name="Creator">
    <vt:lpwstr>Google</vt:lpwstr>
  </property>
  <property fmtid="{D5CDD505-2E9C-101B-9397-08002B2CF9AE}" pid="4" name="LastSaved">
    <vt:filetime>2026-02-07T00:00:00Z</vt:filetime>
  </property>
</Properties>
</file>